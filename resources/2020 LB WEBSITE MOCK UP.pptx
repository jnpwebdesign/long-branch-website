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9134475" cy="12179300" type="ledg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98A4"/>
    <a:srgbClr val="27496D"/>
    <a:srgbClr val="DAE1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086" y="1993233"/>
            <a:ext cx="7764304" cy="4240201"/>
          </a:xfrm>
        </p:spPr>
        <p:txBody>
          <a:bodyPr anchor="b"/>
          <a:lstStyle>
            <a:lvl1pPr algn="ctr">
              <a:defRPr sz="5994"/>
            </a:lvl1pPr>
          </a:lstStyle>
          <a:p>
            <a:r>
              <a:rPr lang="en-US"/>
              <a:t>Click to edit Master title style</a:t>
            </a:r>
            <a:endParaRPr lang="en-US" dirty="0"/>
          </a:p>
        </p:txBody>
      </p:sp>
      <p:sp>
        <p:nvSpPr>
          <p:cNvPr id="3" name="Subtitle 2"/>
          <p:cNvSpPr>
            <a:spLocks noGrp="1"/>
          </p:cNvSpPr>
          <p:nvPr>
            <p:ph type="subTitle" idx="1"/>
          </p:nvPr>
        </p:nvSpPr>
        <p:spPr>
          <a:xfrm>
            <a:off x="1141810" y="6396953"/>
            <a:ext cx="6850856" cy="2940511"/>
          </a:xfrm>
        </p:spPr>
        <p:txBody>
          <a:bodyPr/>
          <a:lstStyle>
            <a:lvl1pPr marL="0" indent="0" algn="ctr">
              <a:buNone/>
              <a:defRPr sz="2398"/>
            </a:lvl1pPr>
            <a:lvl2pPr marL="456743" indent="0" algn="ctr">
              <a:buNone/>
              <a:defRPr sz="1998"/>
            </a:lvl2pPr>
            <a:lvl3pPr marL="913486" indent="0" algn="ctr">
              <a:buNone/>
              <a:defRPr sz="1798"/>
            </a:lvl3pPr>
            <a:lvl4pPr marL="1370228" indent="0" algn="ctr">
              <a:buNone/>
              <a:defRPr sz="1598"/>
            </a:lvl4pPr>
            <a:lvl5pPr marL="1826971" indent="0" algn="ctr">
              <a:buNone/>
              <a:defRPr sz="1598"/>
            </a:lvl5pPr>
            <a:lvl6pPr marL="2283714" indent="0" algn="ctr">
              <a:buNone/>
              <a:defRPr sz="1598"/>
            </a:lvl6pPr>
            <a:lvl7pPr marL="2740457" indent="0" algn="ctr">
              <a:buNone/>
              <a:defRPr sz="1598"/>
            </a:lvl7pPr>
            <a:lvl8pPr marL="3197200" indent="0" algn="ctr">
              <a:buNone/>
              <a:defRPr sz="1598"/>
            </a:lvl8pPr>
            <a:lvl9pPr marL="3653942" indent="0" algn="ctr">
              <a:buNone/>
              <a:defRPr sz="159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166627-483D-44EF-9356-C78A6B062E77}"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681465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166627-483D-44EF-9356-C78A6B062E77}"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300470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238" y="3036371"/>
            <a:ext cx="7878485" cy="5066250"/>
          </a:xfrm>
        </p:spPr>
        <p:txBody>
          <a:bodyPr anchor="b"/>
          <a:lstStyle>
            <a:lvl1pPr>
              <a:defRPr sz="5994"/>
            </a:lvl1pPr>
          </a:lstStyle>
          <a:p>
            <a:r>
              <a:rPr lang="en-US"/>
              <a:t>Click to edit Master title style</a:t>
            </a:r>
            <a:endParaRPr lang="en-US" dirty="0"/>
          </a:p>
        </p:txBody>
      </p:sp>
      <p:sp>
        <p:nvSpPr>
          <p:cNvPr id="3" name="Text Placeholder 2"/>
          <p:cNvSpPr>
            <a:spLocks noGrp="1"/>
          </p:cNvSpPr>
          <p:nvPr>
            <p:ph type="body" idx="1"/>
          </p:nvPr>
        </p:nvSpPr>
        <p:spPr>
          <a:xfrm>
            <a:off x="623238" y="8150549"/>
            <a:ext cx="7878485" cy="2664221"/>
          </a:xfrm>
        </p:spPr>
        <p:txBody>
          <a:bodyPr/>
          <a:lstStyle>
            <a:lvl1pPr marL="0" indent="0">
              <a:buNone/>
              <a:defRPr sz="2398">
                <a:solidFill>
                  <a:schemeClr val="tx1"/>
                </a:solidFill>
              </a:defRPr>
            </a:lvl1pPr>
            <a:lvl2pPr marL="456743" indent="0">
              <a:buNone/>
              <a:defRPr sz="1998">
                <a:solidFill>
                  <a:schemeClr val="tx1">
                    <a:tint val="75000"/>
                  </a:schemeClr>
                </a:solidFill>
              </a:defRPr>
            </a:lvl2pPr>
            <a:lvl3pPr marL="913486" indent="0">
              <a:buNone/>
              <a:defRPr sz="1798">
                <a:solidFill>
                  <a:schemeClr val="tx1">
                    <a:tint val="75000"/>
                  </a:schemeClr>
                </a:solidFill>
              </a:defRPr>
            </a:lvl3pPr>
            <a:lvl4pPr marL="1370228" indent="0">
              <a:buNone/>
              <a:defRPr sz="1598">
                <a:solidFill>
                  <a:schemeClr val="tx1">
                    <a:tint val="75000"/>
                  </a:schemeClr>
                </a:solidFill>
              </a:defRPr>
            </a:lvl4pPr>
            <a:lvl5pPr marL="1826971" indent="0">
              <a:buNone/>
              <a:defRPr sz="1598">
                <a:solidFill>
                  <a:schemeClr val="tx1">
                    <a:tint val="75000"/>
                  </a:schemeClr>
                </a:solidFill>
              </a:defRPr>
            </a:lvl5pPr>
            <a:lvl6pPr marL="2283714" indent="0">
              <a:buNone/>
              <a:defRPr sz="1598">
                <a:solidFill>
                  <a:schemeClr val="tx1">
                    <a:tint val="75000"/>
                  </a:schemeClr>
                </a:solidFill>
              </a:defRPr>
            </a:lvl6pPr>
            <a:lvl7pPr marL="2740457" indent="0">
              <a:buNone/>
              <a:defRPr sz="1598">
                <a:solidFill>
                  <a:schemeClr val="tx1">
                    <a:tint val="75000"/>
                  </a:schemeClr>
                </a:solidFill>
              </a:defRPr>
            </a:lvl7pPr>
            <a:lvl8pPr marL="3197200" indent="0">
              <a:buNone/>
              <a:defRPr sz="1598">
                <a:solidFill>
                  <a:schemeClr val="tx1">
                    <a:tint val="75000"/>
                  </a:schemeClr>
                </a:solidFill>
              </a:defRPr>
            </a:lvl8pPr>
            <a:lvl9pPr marL="3653942" indent="0">
              <a:buNone/>
              <a:defRPr sz="15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166627-483D-44EF-9356-C78A6B062E77}"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456164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7995" y="3242175"/>
            <a:ext cx="3882152" cy="77276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4328" y="3242175"/>
            <a:ext cx="3882152" cy="77276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166627-483D-44EF-9356-C78A6B062E77}" type="datetimeFigureOut">
              <a:rPr lang="en-US" smtClean="0"/>
              <a:t>10/13/2020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1718787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185" y="648437"/>
            <a:ext cx="7878485" cy="23541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186" y="2985621"/>
            <a:ext cx="3864310" cy="1463207"/>
          </a:xfrm>
        </p:spPr>
        <p:txBody>
          <a:bodyPr anchor="b"/>
          <a:lstStyle>
            <a:lvl1pPr marL="0" indent="0">
              <a:buNone/>
              <a:defRPr sz="2398" b="1"/>
            </a:lvl1pPr>
            <a:lvl2pPr marL="456743" indent="0">
              <a:buNone/>
              <a:defRPr sz="1998" b="1"/>
            </a:lvl2pPr>
            <a:lvl3pPr marL="913486" indent="0">
              <a:buNone/>
              <a:defRPr sz="1798" b="1"/>
            </a:lvl3pPr>
            <a:lvl4pPr marL="1370228" indent="0">
              <a:buNone/>
              <a:defRPr sz="1598" b="1"/>
            </a:lvl4pPr>
            <a:lvl5pPr marL="1826971" indent="0">
              <a:buNone/>
              <a:defRPr sz="1598" b="1"/>
            </a:lvl5pPr>
            <a:lvl6pPr marL="2283714" indent="0">
              <a:buNone/>
              <a:defRPr sz="1598" b="1"/>
            </a:lvl6pPr>
            <a:lvl7pPr marL="2740457" indent="0">
              <a:buNone/>
              <a:defRPr sz="1598" b="1"/>
            </a:lvl7pPr>
            <a:lvl8pPr marL="3197200" indent="0">
              <a:buNone/>
              <a:defRPr sz="1598" b="1"/>
            </a:lvl8pPr>
            <a:lvl9pPr marL="3653942" indent="0">
              <a:buNone/>
              <a:defRPr sz="1598" b="1"/>
            </a:lvl9pPr>
          </a:lstStyle>
          <a:p>
            <a:pPr lvl="0"/>
            <a:r>
              <a:rPr lang="en-US"/>
              <a:t>Click to edit Master text styles</a:t>
            </a:r>
          </a:p>
        </p:txBody>
      </p:sp>
      <p:sp>
        <p:nvSpPr>
          <p:cNvPr id="4" name="Content Placeholder 3"/>
          <p:cNvSpPr>
            <a:spLocks noGrp="1"/>
          </p:cNvSpPr>
          <p:nvPr>
            <p:ph sz="half" idx="2"/>
          </p:nvPr>
        </p:nvSpPr>
        <p:spPr>
          <a:xfrm>
            <a:off x="629186" y="4448828"/>
            <a:ext cx="3864310" cy="6543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4328" y="2985621"/>
            <a:ext cx="3883342" cy="1463207"/>
          </a:xfrm>
        </p:spPr>
        <p:txBody>
          <a:bodyPr anchor="b"/>
          <a:lstStyle>
            <a:lvl1pPr marL="0" indent="0">
              <a:buNone/>
              <a:defRPr sz="2398" b="1"/>
            </a:lvl1pPr>
            <a:lvl2pPr marL="456743" indent="0">
              <a:buNone/>
              <a:defRPr sz="1998" b="1"/>
            </a:lvl2pPr>
            <a:lvl3pPr marL="913486" indent="0">
              <a:buNone/>
              <a:defRPr sz="1798" b="1"/>
            </a:lvl3pPr>
            <a:lvl4pPr marL="1370228" indent="0">
              <a:buNone/>
              <a:defRPr sz="1598" b="1"/>
            </a:lvl4pPr>
            <a:lvl5pPr marL="1826971" indent="0">
              <a:buNone/>
              <a:defRPr sz="1598" b="1"/>
            </a:lvl5pPr>
            <a:lvl6pPr marL="2283714" indent="0">
              <a:buNone/>
              <a:defRPr sz="1598" b="1"/>
            </a:lvl6pPr>
            <a:lvl7pPr marL="2740457" indent="0">
              <a:buNone/>
              <a:defRPr sz="1598" b="1"/>
            </a:lvl7pPr>
            <a:lvl8pPr marL="3197200" indent="0">
              <a:buNone/>
              <a:defRPr sz="1598" b="1"/>
            </a:lvl8pPr>
            <a:lvl9pPr marL="3653942" indent="0">
              <a:buNone/>
              <a:defRPr sz="1598" b="1"/>
            </a:lvl9pPr>
          </a:lstStyle>
          <a:p>
            <a:pPr lvl="0"/>
            <a:r>
              <a:rPr lang="en-US"/>
              <a:t>Click to edit Master text styles</a:t>
            </a:r>
          </a:p>
        </p:txBody>
      </p:sp>
      <p:sp>
        <p:nvSpPr>
          <p:cNvPr id="6" name="Content Placeholder 5"/>
          <p:cNvSpPr>
            <a:spLocks noGrp="1"/>
          </p:cNvSpPr>
          <p:nvPr>
            <p:ph sz="quarter" idx="4"/>
          </p:nvPr>
        </p:nvSpPr>
        <p:spPr>
          <a:xfrm>
            <a:off x="4624328" y="4448828"/>
            <a:ext cx="3883342" cy="6543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166627-483D-44EF-9356-C78A6B062E77}" type="datetimeFigureOut">
              <a:rPr lang="en-US" smtClean="0"/>
              <a:t>10/13/2020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458120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166627-483D-44EF-9356-C78A6B062E77}" type="datetimeFigureOut">
              <a:rPr lang="en-US" smtClean="0"/>
              <a:t>10/13/2020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4047428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166627-483D-44EF-9356-C78A6B062E77}" type="datetimeFigureOut">
              <a:rPr lang="en-US" smtClean="0"/>
              <a:t>10/13/2020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842983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185" y="811953"/>
            <a:ext cx="2946106" cy="2841837"/>
          </a:xfrm>
        </p:spPr>
        <p:txBody>
          <a:bodyPr anchor="b"/>
          <a:lstStyle>
            <a:lvl1pPr>
              <a:defRPr sz="3197"/>
            </a:lvl1pPr>
          </a:lstStyle>
          <a:p>
            <a:r>
              <a:rPr lang="en-US"/>
              <a:t>Click to edit Master title style</a:t>
            </a:r>
            <a:endParaRPr lang="en-US" dirty="0"/>
          </a:p>
        </p:txBody>
      </p:sp>
      <p:sp>
        <p:nvSpPr>
          <p:cNvPr id="3" name="Content Placeholder 2"/>
          <p:cNvSpPr>
            <a:spLocks noGrp="1"/>
          </p:cNvSpPr>
          <p:nvPr>
            <p:ph idx="1"/>
          </p:nvPr>
        </p:nvSpPr>
        <p:spPr>
          <a:xfrm>
            <a:off x="3883342" y="1753596"/>
            <a:ext cx="4624328" cy="8655197"/>
          </a:xfrm>
        </p:spPr>
        <p:txBody>
          <a:bodyPr/>
          <a:lstStyle>
            <a:lvl1pPr>
              <a:defRPr sz="3197"/>
            </a:lvl1pPr>
            <a:lvl2pPr>
              <a:defRPr sz="2797"/>
            </a:lvl2pPr>
            <a:lvl3pPr>
              <a:defRPr sz="2398"/>
            </a:lvl3pPr>
            <a:lvl4pPr>
              <a:defRPr sz="1998"/>
            </a:lvl4pPr>
            <a:lvl5pPr>
              <a:defRPr sz="1998"/>
            </a:lvl5pPr>
            <a:lvl6pPr>
              <a:defRPr sz="1998"/>
            </a:lvl6pPr>
            <a:lvl7pPr>
              <a:defRPr sz="1998"/>
            </a:lvl7pPr>
            <a:lvl8pPr>
              <a:defRPr sz="1998"/>
            </a:lvl8pPr>
            <a:lvl9pPr>
              <a:defRPr sz="19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185" y="3653790"/>
            <a:ext cx="2946106" cy="6769098"/>
          </a:xfrm>
        </p:spPr>
        <p:txBody>
          <a:bodyPr/>
          <a:lstStyle>
            <a:lvl1pPr marL="0" indent="0">
              <a:buNone/>
              <a:defRPr sz="1598"/>
            </a:lvl1pPr>
            <a:lvl2pPr marL="456743" indent="0">
              <a:buNone/>
              <a:defRPr sz="1399"/>
            </a:lvl2pPr>
            <a:lvl3pPr marL="913486" indent="0">
              <a:buNone/>
              <a:defRPr sz="1199"/>
            </a:lvl3pPr>
            <a:lvl4pPr marL="1370228" indent="0">
              <a:buNone/>
              <a:defRPr sz="999"/>
            </a:lvl4pPr>
            <a:lvl5pPr marL="1826971" indent="0">
              <a:buNone/>
              <a:defRPr sz="999"/>
            </a:lvl5pPr>
            <a:lvl6pPr marL="2283714" indent="0">
              <a:buNone/>
              <a:defRPr sz="999"/>
            </a:lvl6pPr>
            <a:lvl7pPr marL="2740457" indent="0">
              <a:buNone/>
              <a:defRPr sz="999"/>
            </a:lvl7pPr>
            <a:lvl8pPr marL="3197200" indent="0">
              <a:buNone/>
              <a:defRPr sz="999"/>
            </a:lvl8pPr>
            <a:lvl9pPr marL="3653942" indent="0">
              <a:buNone/>
              <a:defRPr sz="999"/>
            </a:lvl9pPr>
          </a:lstStyle>
          <a:p>
            <a:pPr lvl="0"/>
            <a:r>
              <a:rPr lang="en-US"/>
              <a:t>Click to edit Master text styles</a:t>
            </a:r>
          </a:p>
        </p:txBody>
      </p:sp>
      <p:sp>
        <p:nvSpPr>
          <p:cNvPr id="5" name="Date Placeholder 4"/>
          <p:cNvSpPr>
            <a:spLocks noGrp="1"/>
          </p:cNvSpPr>
          <p:nvPr>
            <p:ph type="dt" sz="half" idx="10"/>
          </p:nvPr>
        </p:nvSpPr>
        <p:spPr/>
        <p:txBody>
          <a:bodyPr/>
          <a:lstStyle/>
          <a:p>
            <a:fld id="{A1166627-483D-44EF-9356-C78A6B062E77}" type="datetimeFigureOut">
              <a:rPr lang="en-US" smtClean="0"/>
              <a:t>10/13/2020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3299573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185" y="811953"/>
            <a:ext cx="2946106" cy="2841837"/>
          </a:xfrm>
        </p:spPr>
        <p:txBody>
          <a:bodyPr anchor="b"/>
          <a:lstStyle>
            <a:lvl1pPr>
              <a:defRPr sz="3197"/>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3342" y="1753596"/>
            <a:ext cx="4624328" cy="8655197"/>
          </a:xfrm>
        </p:spPr>
        <p:txBody>
          <a:bodyPr anchor="t"/>
          <a:lstStyle>
            <a:lvl1pPr marL="0" indent="0">
              <a:buNone/>
              <a:defRPr sz="3197"/>
            </a:lvl1pPr>
            <a:lvl2pPr marL="456743" indent="0">
              <a:buNone/>
              <a:defRPr sz="2797"/>
            </a:lvl2pPr>
            <a:lvl3pPr marL="913486" indent="0">
              <a:buNone/>
              <a:defRPr sz="2398"/>
            </a:lvl3pPr>
            <a:lvl4pPr marL="1370228" indent="0">
              <a:buNone/>
              <a:defRPr sz="1998"/>
            </a:lvl4pPr>
            <a:lvl5pPr marL="1826971" indent="0">
              <a:buNone/>
              <a:defRPr sz="1998"/>
            </a:lvl5pPr>
            <a:lvl6pPr marL="2283714" indent="0">
              <a:buNone/>
              <a:defRPr sz="1998"/>
            </a:lvl6pPr>
            <a:lvl7pPr marL="2740457" indent="0">
              <a:buNone/>
              <a:defRPr sz="1998"/>
            </a:lvl7pPr>
            <a:lvl8pPr marL="3197200" indent="0">
              <a:buNone/>
              <a:defRPr sz="1998"/>
            </a:lvl8pPr>
            <a:lvl9pPr marL="3653942" indent="0">
              <a:buNone/>
              <a:defRPr sz="1998"/>
            </a:lvl9pPr>
          </a:lstStyle>
          <a:p>
            <a:r>
              <a:rPr lang="en-US"/>
              <a:t>Click icon to add picture</a:t>
            </a:r>
            <a:endParaRPr lang="en-US" dirty="0"/>
          </a:p>
        </p:txBody>
      </p:sp>
      <p:sp>
        <p:nvSpPr>
          <p:cNvPr id="4" name="Text Placeholder 3"/>
          <p:cNvSpPr>
            <a:spLocks noGrp="1"/>
          </p:cNvSpPr>
          <p:nvPr>
            <p:ph type="body" sz="half" idx="2"/>
          </p:nvPr>
        </p:nvSpPr>
        <p:spPr>
          <a:xfrm>
            <a:off x="629185" y="3653790"/>
            <a:ext cx="2946106" cy="6769098"/>
          </a:xfrm>
        </p:spPr>
        <p:txBody>
          <a:bodyPr/>
          <a:lstStyle>
            <a:lvl1pPr marL="0" indent="0">
              <a:buNone/>
              <a:defRPr sz="1598"/>
            </a:lvl1pPr>
            <a:lvl2pPr marL="456743" indent="0">
              <a:buNone/>
              <a:defRPr sz="1399"/>
            </a:lvl2pPr>
            <a:lvl3pPr marL="913486" indent="0">
              <a:buNone/>
              <a:defRPr sz="1199"/>
            </a:lvl3pPr>
            <a:lvl4pPr marL="1370228" indent="0">
              <a:buNone/>
              <a:defRPr sz="999"/>
            </a:lvl4pPr>
            <a:lvl5pPr marL="1826971" indent="0">
              <a:buNone/>
              <a:defRPr sz="999"/>
            </a:lvl5pPr>
            <a:lvl6pPr marL="2283714" indent="0">
              <a:buNone/>
              <a:defRPr sz="999"/>
            </a:lvl6pPr>
            <a:lvl7pPr marL="2740457" indent="0">
              <a:buNone/>
              <a:defRPr sz="999"/>
            </a:lvl7pPr>
            <a:lvl8pPr marL="3197200" indent="0">
              <a:buNone/>
              <a:defRPr sz="999"/>
            </a:lvl8pPr>
            <a:lvl9pPr marL="3653942" indent="0">
              <a:buNone/>
              <a:defRPr sz="999"/>
            </a:lvl9pPr>
          </a:lstStyle>
          <a:p>
            <a:pPr lvl="0"/>
            <a:r>
              <a:rPr lang="en-US"/>
              <a:t>Click to edit Master text styles</a:t>
            </a:r>
          </a:p>
        </p:txBody>
      </p:sp>
      <p:sp>
        <p:nvSpPr>
          <p:cNvPr id="5" name="Date Placeholder 4"/>
          <p:cNvSpPr>
            <a:spLocks noGrp="1"/>
          </p:cNvSpPr>
          <p:nvPr>
            <p:ph type="dt" sz="half" idx="10"/>
          </p:nvPr>
        </p:nvSpPr>
        <p:spPr/>
        <p:txBody>
          <a:bodyPr/>
          <a:lstStyle/>
          <a:p>
            <a:fld id="{A1166627-483D-44EF-9356-C78A6B062E77}" type="datetimeFigureOut">
              <a:rPr lang="en-US" smtClean="0"/>
              <a:t>10/13/2020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218375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166627-483D-44EF-9356-C78A6B062E77}"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28482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36859" y="648435"/>
            <a:ext cx="1969621" cy="1032139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7995" y="648435"/>
            <a:ext cx="5794683" cy="1032139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166627-483D-44EF-9356-C78A6B062E77}" type="datetimeFigureOut">
              <a:rPr lang="en-US" smtClean="0"/>
              <a:t>10/13/2020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7CF371-4F9E-4DDB-81BA-5667DCB6DFAE}" type="slidenum">
              <a:rPr lang="en-US" smtClean="0"/>
              <a:t>‹#›</a:t>
            </a:fld>
            <a:endParaRPr lang="en-US"/>
          </a:p>
        </p:txBody>
      </p:sp>
    </p:spTree>
    <p:extLst>
      <p:ext uri="{BB962C8B-B14F-4D97-AF65-F5344CB8AC3E}">
        <p14:creationId xmlns:p14="http://schemas.microsoft.com/office/powerpoint/2010/main" val="2645162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7995" y="648437"/>
            <a:ext cx="7878485" cy="23541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7995" y="3242175"/>
            <a:ext cx="7878485" cy="77276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7995" y="11288409"/>
            <a:ext cx="2055257" cy="648435"/>
          </a:xfrm>
          <a:prstGeom prst="rect">
            <a:avLst/>
          </a:prstGeom>
        </p:spPr>
        <p:txBody>
          <a:bodyPr vert="horz" lIns="91440" tIns="45720" rIns="91440" bIns="45720" rtlCol="0" anchor="ctr"/>
          <a:lstStyle>
            <a:lvl1pPr algn="l">
              <a:defRPr sz="1199">
                <a:solidFill>
                  <a:schemeClr val="tx1">
                    <a:tint val="75000"/>
                  </a:schemeClr>
                </a:solidFill>
              </a:defRPr>
            </a:lvl1pPr>
          </a:lstStyle>
          <a:p>
            <a:fld id="{A1166627-483D-44EF-9356-C78A6B062E77}" type="datetimeFigureOut">
              <a:rPr lang="en-US" smtClean="0"/>
              <a:t>10/13/2020</a:t>
            </a:fld>
            <a:endParaRPr lang="en-US"/>
          </a:p>
        </p:txBody>
      </p:sp>
      <p:sp>
        <p:nvSpPr>
          <p:cNvPr id="5" name="Footer Placeholder 4"/>
          <p:cNvSpPr>
            <a:spLocks noGrp="1"/>
          </p:cNvSpPr>
          <p:nvPr>
            <p:ph type="ftr" sz="quarter" idx="3"/>
          </p:nvPr>
        </p:nvSpPr>
        <p:spPr>
          <a:xfrm>
            <a:off x="3025795" y="11288409"/>
            <a:ext cx="3082885" cy="648435"/>
          </a:xfrm>
          <a:prstGeom prst="rect">
            <a:avLst/>
          </a:prstGeom>
        </p:spPr>
        <p:txBody>
          <a:bodyPr vert="horz" lIns="91440" tIns="45720" rIns="91440" bIns="45720" rtlCol="0" anchor="ctr"/>
          <a:lstStyle>
            <a:lvl1pPr algn="ctr">
              <a:defRPr sz="119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1223" y="11288409"/>
            <a:ext cx="2055257" cy="648435"/>
          </a:xfrm>
          <a:prstGeom prst="rect">
            <a:avLst/>
          </a:prstGeom>
        </p:spPr>
        <p:txBody>
          <a:bodyPr vert="horz" lIns="91440" tIns="45720" rIns="91440" bIns="45720" rtlCol="0" anchor="ctr"/>
          <a:lstStyle>
            <a:lvl1pPr algn="r">
              <a:defRPr sz="1199">
                <a:solidFill>
                  <a:schemeClr val="tx1">
                    <a:tint val="75000"/>
                  </a:schemeClr>
                </a:solidFill>
              </a:defRPr>
            </a:lvl1pPr>
          </a:lstStyle>
          <a:p>
            <a:fld id="{437CF371-4F9E-4DDB-81BA-5667DCB6DFAE}" type="slidenum">
              <a:rPr lang="en-US" smtClean="0"/>
              <a:t>‹#›</a:t>
            </a:fld>
            <a:endParaRPr lang="en-US"/>
          </a:p>
        </p:txBody>
      </p:sp>
    </p:spTree>
    <p:extLst>
      <p:ext uri="{BB962C8B-B14F-4D97-AF65-F5344CB8AC3E}">
        <p14:creationId xmlns:p14="http://schemas.microsoft.com/office/powerpoint/2010/main" val="20506652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3486" rtl="0" eaLnBrk="1" latinLnBrk="0" hangingPunct="1">
        <a:lnSpc>
          <a:spcPct val="90000"/>
        </a:lnSpc>
        <a:spcBef>
          <a:spcPct val="0"/>
        </a:spcBef>
        <a:buNone/>
        <a:defRPr sz="4396" kern="1200">
          <a:solidFill>
            <a:schemeClr val="tx1"/>
          </a:solidFill>
          <a:latin typeface="+mj-lt"/>
          <a:ea typeface="+mj-ea"/>
          <a:cs typeface="+mj-cs"/>
        </a:defRPr>
      </a:lvl1pPr>
    </p:titleStyle>
    <p:bodyStyle>
      <a:lvl1pPr marL="228371" indent="-228371" algn="l" defTabSz="913486" rtl="0" eaLnBrk="1" latinLnBrk="0" hangingPunct="1">
        <a:lnSpc>
          <a:spcPct val="90000"/>
        </a:lnSpc>
        <a:spcBef>
          <a:spcPts val="999"/>
        </a:spcBef>
        <a:buFont typeface="Arial" panose="020B0604020202020204" pitchFamily="34" charset="0"/>
        <a:buChar char="•"/>
        <a:defRPr sz="2797" kern="1200">
          <a:solidFill>
            <a:schemeClr val="tx1"/>
          </a:solidFill>
          <a:latin typeface="+mn-lt"/>
          <a:ea typeface="+mn-ea"/>
          <a:cs typeface="+mn-cs"/>
        </a:defRPr>
      </a:lvl1pPr>
      <a:lvl2pPr marL="685114" indent="-228371" algn="l" defTabSz="913486"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1857" indent="-228371" algn="l" defTabSz="913486"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8600"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343"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085"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8828"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5571"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2314" indent="-228371" algn="l" defTabSz="913486"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486" rtl="0" eaLnBrk="1" latinLnBrk="0" hangingPunct="1">
        <a:defRPr sz="1798" kern="1200">
          <a:solidFill>
            <a:schemeClr val="tx1"/>
          </a:solidFill>
          <a:latin typeface="+mn-lt"/>
          <a:ea typeface="+mn-ea"/>
          <a:cs typeface="+mn-cs"/>
        </a:defRPr>
      </a:lvl1pPr>
      <a:lvl2pPr marL="456743" algn="l" defTabSz="913486" rtl="0" eaLnBrk="1" latinLnBrk="0" hangingPunct="1">
        <a:defRPr sz="1798" kern="1200">
          <a:solidFill>
            <a:schemeClr val="tx1"/>
          </a:solidFill>
          <a:latin typeface="+mn-lt"/>
          <a:ea typeface="+mn-ea"/>
          <a:cs typeface="+mn-cs"/>
        </a:defRPr>
      </a:lvl2pPr>
      <a:lvl3pPr marL="913486" algn="l" defTabSz="913486" rtl="0" eaLnBrk="1" latinLnBrk="0" hangingPunct="1">
        <a:defRPr sz="1798" kern="1200">
          <a:solidFill>
            <a:schemeClr val="tx1"/>
          </a:solidFill>
          <a:latin typeface="+mn-lt"/>
          <a:ea typeface="+mn-ea"/>
          <a:cs typeface="+mn-cs"/>
        </a:defRPr>
      </a:lvl3pPr>
      <a:lvl4pPr marL="1370228" algn="l" defTabSz="913486" rtl="0" eaLnBrk="1" latinLnBrk="0" hangingPunct="1">
        <a:defRPr sz="1798" kern="1200">
          <a:solidFill>
            <a:schemeClr val="tx1"/>
          </a:solidFill>
          <a:latin typeface="+mn-lt"/>
          <a:ea typeface="+mn-ea"/>
          <a:cs typeface="+mn-cs"/>
        </a:defRPr>
      </a:lvl4pPr>
      <a:lvl5pPr marL="1826971" algn="l" defTabSz="913486" rtl="0" eaLnBrk="1" latinLnBrk="0" hangingPunct="1">
        <a:defRPr sz="1798" kern="1200">
          <a:solidFill>
            <a:schemeClr val="tx1"/>
          </a:solidFill>
          <a:latin typeface="+mn-lt"/>
          <a:ea typeface="+mn-ea"/>
          <a:cs typeface="+mn-cs"/>
        </a:defRPr>
      </a:lvl5pPr>
      <a:lvl6pPr marL="2283714" algn="l" defTabSz="913486" rtl="0" eaLnBrk="1" latinLnBrk="0" hangingPunct="1">
        <a:defRPr sz="1798" kern="1200">
          <a:solidFill>
            <a:schemeClr val="tx1"/>
          </a:solidFill>
          <a:latin typeface="+mn-lt"/>
          <a:ea typeface="+mn-ea"/>
          <a:cs typeface="+mn-cs"/>
        </a:defRPr>
      </a:lvl6pPr>
      <a:lvl7pPr marL="2740457" algn="l" defTabSz="913486" rtl="0" eaLnBrk="1" latinLnBrk="0" hangingPunct="1">
        <a:defRPr sz="1798" kern="1200">
          <a:solidFill>
            <a:schemeClr val="tx1"/>
          </a:solidFill>
          <a:latin typeface="+mn-lt"/>
          <a:ea typeface="+mn-ea"/>
          <a:cs typeface="+mn-cs"/>
        </a:defRPr>
      </a:lvl7pPr>
      <a:lvl8pPr marL="3197200" algn="l" defTabSz="913486" rtl="0" eaLnBrk="1" latinLnBrk="0" hangingPunct="1">
        <a:defRPr sz="1798" kern="1200">
          <a:solidFill>
            <a:schemeClr val="tx1"/>
          </a:solidFill>
          <a:latin typeface="+mn-lt"/>
          <a:ea typeface="+mn-ea"/>
          <a:cs typeface="+mn-cs"/>
        </a:defRPr>
      </a:lvl8pPr>
      <a:lvl9pPr marL="3653942" algn="l" defTabSz="913486" rtl="0" eaLnBrk="1" latinLnBrk="0" hangingPunct="1">
        <a:defRPr sz="17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jp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jpg"/><Relationship Id="rId7"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7.jpeg"/><Relationship Id="rId11" Type="http://schemas.openxmlformats.org/officeDocument/2006/relationships/image" Target="../media/image10.jpeg"/><Relationship Id="rId5" Type="http://schemas.openxmlformats.org/officeDocument/2006/relationships/image" Target="../media/image6.png"/><Relationship Id="rId10" Type="http://schemas.openxmlformats.org/officeDocument/2006/relationships/image" Target="../media/image12.jpeg"/><Relationship Id="rId4" Type="http://schemas.openxmlformats.org/officeDocument/2006/relationships/image" Target="../media/image5.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6.png"/><Relationship Id="rId7" Type="http://schemas.openxmlformats.org/officeDocument/2006/relationships/image" Target="../media/image13.jpe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staging.visitlongbranch.org/history/agriculture.html" TargetMode="External"/><Relationship Id="rId7" Type="http://schemas.openxmlformats.org/officeDocument/2006/relationships/image" Target="../media/image8.png"/><Relationship Id="rId2" Type="http://schemas.openxmlformats.org/officeDocument/2006/relationships/image" Target="../media/image14.jpe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9EC03AC-C076-40D5-93AB-517D82F6C101}"/>
              </a:ext>
            </a:extLst>
          </p:cNvPr>
          <p:cNvSpPr/>
          <p:nvPr/>
        </p:nvSpPr>
        <p:spPr>
          <a:xfrm>
            <a:off x="-2" y="10844463"/>
            <a:ext cx="9134473" cy="1353708"/>
          </a:xfrm>
          <a:prstGeom prst="rect">
            <a:avLst/>
          </a:prstGeom>
          <a:solidFill>
            <a:srgbClr val="129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581C0D9-3EDC-4A51-B585-F7B7778E1F2B}"/>
              </a:ext>
            </a:extLst>
          </p:cNvPr>
          <p:cNvSpPr/>
          <p:nvPr/>
        </p:nvSpPr>
        <p:spPr>
          <a:xfrm>
            <a:off x="0" y="0"/>
            <a:ext cx="9134475" cy="1620253"/>
          </a:xfrm>
          <a:prstGeom prst="rect">
            <a:avLst/>
          </a:prstGeom>
          <a:solidFill>
            <a:srgbClr val="DAE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F4CB049-AFD4-4093-84A5-93C15377D13F}"/>
              </a:ext>
            </a:extLst>
          </p:cNvPr>
          <p:cNvSpPr txBox="1"/>
          <p:nvPr/>
        </p:nvSpPr>
        <p:spPr>
          <a:xfrm>
            <a:off x="24714" y="257627"/>
            <a:ext cx="5214551"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About  History Horse Retirement Donate</a:t>
            </a:r>
          </a:p>
        </p:txBody>
      </p:sp>
      <p:sp>
        <p:nvSpPr>
          <p:cNvPr id="9" name="TextBox 8">
            <a:extLst>
              <a:ext uri="{FF2B5EF4-FFF2-40B4-BE49-F238E27FC236}">
                <a16:creationId xmlns:a16="http://schemas.microsoft.com/office/drawing/2014/main" id="{B057F934-692E-4641-BF76-E052C7342D1B}"/>
              </a:ext>
            </a:extLst>
          </p:cNvPr>
          <p:cNvSpPr txBox="1"/>
          <p:nvPr/>
        </p:nvSpPr>
        <p:spPr>
          <a:xfrm>
            <a:off x="5445756" y="226849"/>
            <a:ext cx="9539416" cy="769441"/>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Happenings Visit Weddings  Event Rentals</a:t>
            </a:r>
          </a:p>
          <a:p>
            <a:endParaRPr lang="en-US" sz="2800" dirty="0"/>
          </a:p>
        </p:txBody>
      </p:sp>
      <p:pic>
        <p:nvPicPr>
          <p:cNvPr id="11" name="Picture 10" descr="A tree in front of a house&#10;&#10;Description automatically generated">
            <a:extLst>
              <a:ext uri="{FF2B5EF4-FFF2-40B4-BE49-F238E27FC236}">
                <a16:creationId xmlns:a16="http://schemas.microsoft.com/office/drawing/2014/main" id="{867A081A-5588-464F-B225-C1033239A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1077"/>
            <a:ext cx="9134474" cy="4515040"/>
          </a:xfrm>
          <a:prstGeom prst="rect">
            <a:avLst/>
          </a:prstGeom>
        </p:spPr>
      </p:pic>
      <p:sp>
        <p:nvSpPr>
          <p:cNvPr id="13" name="Rectangle 12">
            <a:extLst>
              <a:ext uri="{FF2B5EF4-FFF2-40B4-BE49-F238E27FC236}">
                <a16:creationId xmlns:a16="http://schemas.microsoft.com/office/drawing/2014/main" id="{277E3ACB-77BD-410E-8E28-C64FA0C38954}"/>
              </a:ext>
            </a:extLst>
          </p:cNvPr>
          <p:cNvSpPr/>
          <p:nvPr/>
        </p:nvSpPr>
        <p:spPr>
          <a:xfrm>
            <a:off x="-1" y="5590675"/>
            <a:ext cx="9134475" cy="623153"/>
          </a:xfrm>
          <a:prstGeom prst="rect">
            <a:avLst/>
          </a:prstGeom>
          <a:solidFill>
            <a:srgbClr val="DAE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rush Script MT" panose="03060802040406070304" pitchFamily="66" charset="0"/>
                <a:cs typeface="Times New Roman" panose="02020603050405020304" pitchFamily="18" charset="0"/>
              </a:rPr>
              <a:t>Historic Long Branch</a:t>
            </a:r>
          </a:p>
        </p:txBody>
      </p:sp>
      <p:sp>
        <p:nvSpPr>
          <p:cNvPr id="14" name="Rectangle 13">
            <a:extLst>
              <a:ext uri="{FF2B5EF4-FFF2-40B4-BE49-F238E27FC236}">
                <a16:creationId xmlns:a16="http://schemas.microsoft.com/office/drawing/2014/main" id="{EBA5CE64-6140-4773-8F11-26BBCDF4C012}"/>
              </a:ext>
            </a:extLst>
          </p:cNvPr>
          <p:cNvSpPr/>
          <p:nvPr/>
        </p:nvSpPr>
        <p:spPr>
          <a:xfrm>
            <a:off x="-1" y="6213828"/>
            <a:ext cx="9134474" cy="2047670"/>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D6AB79F-052D-4ACD-92BA-26C0BEA43A88}"/>
              </a:ext>
            </a:extLst>
          </p:cNvPr>
          <p:cNvSpPr txBox="1"/>
          <p:nvPr/>
        </p:nvSpPr>
        <p:spPr>
          <a:xfrm>
            <a:off x="119888" y="6370739"/>
            <a:ext cx="8830528" cy="1815882"/>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Long Branch Historic House and Farm is located on 400 acres in Boyce, Virginia, about an hour and half away from Washington, D.C. Our purpose is to preserve and utilize the assets of the Long Branch estate for the benefit of our local and regional communities. The historic house, active Virginia horse retirement farm and scenic open space allow us to promote education, environmental preservation and host community and private events. Our scenic gardens are the perfect location for Virginia weddings, and the house is the ideal Virginia wedding venue during inclement weather.  Whether touring the home, enjoying a picnic on our beautiful grounds, hiking or walking our pristine property at the base of the Blue Ridge Mountains, you will be sure to want to visit again.</a:t>
            </a:r>
          </a:p>
          <a:p>
            <a:endParaRPr lang="en-US" sz="1400" dirty="0">
              <a:solidFill>
                <a:schemeClr val="bg1"/>
              </a:solidFill>
            </a:endParaRPr>
          </a:p>
        </p:txBody>
      </p:sp>
      <p:grpSp>
        <p:nvGrpSpPr>
          <p:cNvPr id="26" name="Group 25">
            <a:extLst>
              <a:ext uri="{FF2B5EF4-FFF2-40B4-BE49-F238E27FC236}">
                <a16:creationId xmlns:a16="http://schemas.microsoft.com/office/drawing/2014/main" id="{4FD47131-DC77-4D9B-ACB8-4D45A8B6D140}"/>
              </a:ext>
            </a:extLst>
          </p:cNvPr>
          <p:cNvGrpSpPr/>
          <p:nvPr/>
        </p:nvGrpSpPr>
        <p:grpSpPr>
          <a:xfrm>
            <a:off x="364205" y="8570162"/>
            <a:ext cx="8406061" cy="2072899"/>
            <a:chOff x="364205" y="8489952"/>
            <a:chExt cx="8406061" cy="2072899"/>
          </a:xfrm>
        </p:grpSpPr>
        <p:pic>
          <p:nvPicPr>
            <p:cNvPr id="17" name="Picture 16" descr="A room filled with furniture and vase of flowers on a table&#10;&#10;Description automatically generated">
              <a:extLst>
                <a:ext uri="{FF2B5EF4-FFF2-40B4-BE49-F238E27FC236}">
                  <a16:creationId xmlns:a16="http://schemas.microsoft.com/office/drawing/2014/main" id="{DCCF418D-A168-4157-937B-F01F7A8EA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205" y="8526756"/>
              <a:ext cx="2491289" cy="1660444"/>
            </a:xfrm>
            <a:prstGeom prst="rect">
              <a:avLst/>
            </a:prstGeom>
          </p:spPr>
        </p:pic>
        <p:pic>
          <p:nvPicPr>
            <p:cNvPr id="19" name="Picture 18" descr="A large green field with trees in the background&#10;&#10;Description automatically generated">
              <a:extLst>
                <a:ext uri="{FF2B5EF4-FFF2-40B4-BE49-F238E27FC236}">
                  <a16:creationId xmlns:a16="http://schemas.microsoft.com/office/drawing/2014/main" id="{41522D10-1D11-4BF3-924E-50E912B9BE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1593" y="8489952"/>
              <a:ext cx="2491289" cy="1658757"/>
            </a:xfrm>
            <a:prstGeom prst="rect">
              <a:avLst/>
            </a:prstGeom>
          </p:spPr>
        </p:pic>
        <p:sp>
          <p:nvSpPr>
            <p:cNvPr id="22" name="Rectangle 21">
              <a:extLst>
                <a:ext uri="{FF2B5EF4-FFF2-40B4-BE49-F238E27FC236}">
                  <a16:creationId xmlns:a16="http://schemas.microsoft.com/office/drawing/2014/main" id="{47F081DD-B260-4BA9-B435-5EB2D6B332C5}"/>
                </a:ext>
              </a:extLst>
            </p:cNvPr>
            <p:cNvSpPr/>
            <p:nvPr/>
          </p:nvSpPr>
          <p:spPr>
            <a:xfrm>
              <a:off x="364205" y="10144668"/>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Upcoming Events</a:t>
              </a:r>
            </a:p>
          </p:txBody>
        </p:sp>
        <p:sp>
          <p:nvSpPr>
            <p:cNvPr id="23" name="Rectangle 22">
              <a:extLst>
                <a:ext uri="{FF2B5EF4-FFF2-40B4-BE49-F238E27FC236}">
                  <a16:creationId xmlns:a16="http://schemas.microsoft.com/office/drawing/2014/main" id="{1683B135-A324-427C-A17F-DD291705A982}"/>
                </a:ext>
              </a:extLst>
            </p:cNvPr>
            <p:cNvSpPr/>
            <p:nvPr/>
          </p:nvSpPr>
          <p:spPr>
            <a:xfrm>
              <a:off x="3321591" y="10130039"/>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Weddings</a:t>
              </a:r>
            </a:p>
          </p:txBody>
        </p:sp>
        <p:sp>
          <p:nvSpPr>
            <p:cNvPr id="24" name="Rectangle 23">
              <a:extLst>
                <a:ext uri="{FF2B5EF4-FFF2-40B4-BE49-F238E27FC236}">
                  <a16:creationId xmlns:a16="http://schemas.microsoft.com/office/drawing/2014/main" id="{252DC8E2-A4C0-4CE6-87BD-D3E0E24F7583}"/>
                </a:ext>
              </a:extLst>
            </p:cNvPr>
            <p:cNvSpPr/>
            <p:nvPr/>
          </p:nvSpPr>
          <p:spPr>
            <a:xfrm>
              <a:off x="6278977" y="10148709"/>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Horse Retirement</a:t>
              </a:r>
            </a:p>
          </p:txBody>
        </p:sp>
        <p:pic>
          <p:nvPicPr>
            <p:cNvPr id="25" name="Picture 24">
              <a:extLst>
                <a:ext uri="{FF2B5EF4-FFF2-40B4-BE49-F238E27FC236}">
                  <a16:creationId xmlns:a16="http://schemas.microsoft.com/office/drawing/2014/main" id="{3297C915-2530-4E4D-9AB1-6D4669C65397}"/>
                </a:ext>
              </a:extLst>
            </p:cNvPr>
            <p:cNvPicPr>
              <a:picLocks noChangeAspect="1"/>
            </p:cNvPicPr>
            <p:nvPr/>
          </p:nvPicPr>
          <p:blipFill>
            <a:blip r:embed="rId5"/>
            <a:stretch>
              <a:fillRect/>
            </a:stretch>
          </p:blipFill>
          <p:spPr>
            <a:xfrm>
              <a:off x="6278977" y="8489952"/>
              <a:ext cx="2491289" cy="1681380"/>
            </a:xfrm>
            <a:prstGeom prst="rect">
              <a:avLst/>
            </a:prstGeom>
          </p:spPr>
        </p:pic>
      </p:grpSp>
      <p:sp>
        <p:nvSpPr>
          <p:cNvPr id="27" name="TextBox 26">
            <a:extLst>
              <a:ext uri="{FF2B5EF4-FFF2-40B4-BE49-F238E27FC236}">
                <a16:creationId xmlns:a16="http://schemas.microsoft.com/office/drawing/2014/main" id="{6101AC4B-3454-4674-AA1F-BEB12BCCCAED}"/>
              </a:ext>
            </a:extLst>
          </p:cNvPr>
          <p:cNvSpPr txBox="1"/>
          <p:nvPr/>
        </p:nvSpPr>
        <p:spPr>
          <a:xfrm>
            <a:off x="151972" y="10978971"/>
            <a:ext cx="1775294" cy="1200329"/>
          </a:xfrm>
          <a:prstGeom prst="rect">
            <a:avLst/>
          </a:prstGeom>
          <a:noFill/>
        </p:spPr>
        <p:txBody>
          <a:bodyPr wrap="none" rtlCol="0">
            <a:spAutoFit/>
          </a:bodyPr>
          <a:lstStyle/>
          <a:p>
            <a:r>
              <a:rPr lang="en-US" sz="1200" dirty="0">
                <a:solidFill>
                  <a:schemeClr val="bg1"/>
                </a:solidFill>
                <a:latin typeface="Times New Roman" panose="02020603050405020304" pitchFamily="18" charset="0"/>
                <a:cs typeface="Times New Roman" panose="02020603050405020304" pitchFamily="18" charset="0"/>
              </a:rPr>
              <a:t>830 Long Branch Lane</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P.O. Box 241</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Millwood, VA 22646</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540-837-1856</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info@visitlongbranch.org</a:t>
            </a:r>
          </a:p>
          <a:p>
            <a:endParaRPr lang="en-US" sz="1200" dirty="0">
              <a:solidFill>
                <a:schemeClr val="bg1"/>
              </a:solidFill>
              <a:latin typeface="Times New Roman" panose="02020603050405020304" pitchFamily="18" charset="0"/>
              <a:cs typeface="Times New Roman" panose="02020603050405020304" pitchFamily="18" charset="0"/>
            </a:endParaRPr>
          </a:p>
        </p:txBody>
      </p:sp>
      <p:pic>
        <p:nvPicPr>
          <p:cNvPr id="1028" name="Picture 4" descr="wedding-wire-rated-badge - Classic Bakery">
            <a:extLst>
              <a:ext uri="{FF2B5EF4-FFF2-40B4-BE49-F238E27FC236}">
                <a16:creationId xmlns:a16="http://schemas.microsoft.com/office/drawing/2014/main" id="{602899E8-1A94-4159-8AC4-4212726651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1974" y="11034159"/>
            <a:ext cx="918292" cy="91829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acebook Icon transparent PNG - StickPNG">
            <a:extLst>
              <a:ext uri="{FF2B5EF4-FFF2-40B4-BE49-F238E27FC236}">
                <a16:creationId xmlns:a16="http://schemas.microsoft.com/office/drawing/2014/main" id="{30D34663-AD0C-4782-BE34-578DD7EB28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9465" y="11322069"/>
            <a:ext cx="385209" cy="34247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nstagram Logo transparent PNG - StickPNG">
            <a:extLst>
              <a:ext uri="{FF2B5EF4-FFF2-40B4-BE49-F238E27FC236}">
                <a16:creationId xmlns:a16="http://schemas.microsoft.com/office/drawing/2014/main" id="{76F93528-1D43-4DAE-B1DE-28BE852773F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8944" y="11322070"/>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witter Logo transparent PNG - StickPNG">
            <a:extLst>
              <a:ext uri="{FF2B5EF4-FFF2-40B4-BE49-F238E27FC236}">
                <a16:creationId xmlns:a16="http://schemas.microsoft.com/office/drawing/2014/main" id="{2ED3F2F3-730C-4FC4-9AD1-1AEFBDFFDF3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1288" y="11322069"/>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Free Youtube Logo Png Transparent, Download Free Clip Art, Free Clip Art on  Clipart Library">
            <a:extLst>
              <a:ext uri="{FF2B5EF4-FFF2-40B4-BE49-F238E27FC236}">
                <a16:creationId xmlns:a16="http://schemas.microsoft.com/office/drawing/2014/main" id="{7BC778EE-9082-4840-945C-0D401FBF3D8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8029" y="11322069"/>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28" name="image1.jpeg">
            <a:extLst>
              <a:ext uri="{FF2B5EF4-FFF2-40B4-BE49-F238E27FC236}">
                <a16:creationId xmlns:a16="http://schemas.microsoft.com/office/drawing/2014/main" id="{C553BA6B-61A8-4A51-8A6C-E580887DA5A7}"/>
              </a:ext>
            </a:extLst>
          </p:cNvPr>
          <p:cNvPicPr/>
          <p:nvPr/>
        </p:nvPicPr>
        <p:blipFill>
          <a:blip r:embed="rId11" cstate="print"/>
          <a:stretch>
            <a:fillRect/>
          </a:stretch>
        </p:blipFill>
        <p:spPr>
          <a:xfrm>
            <a:off x="3571060" y="94274"/>
            <a:ext cx="1839440" cy="989409"/>
          </a:xfrm>
          <a:prstGeom prst="rect">
            <a:avLst/>
          </a:prstGeom>
        </p:spPr>
      </p:pic>
    </p:spTree>
    <p:extLst>
      <p:ext uri="{BB962C8B-B14F-4D97-AF65-F5344CB8AC3E}">
        <p14:creationId xmlns:p14="http://schemas.microsoft.com/office/powerpoint/2010/main" val="3028609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9EC03AC-C076-40D5-93AB-517D82F6C101}"/>
              </a:ext>
            </a:extLst>
          </p:cNvPr>
          <p:cNvSpPr/>
          <p:nvPr/>
        </p:nvSpPr>
        <p:spPr>
          <a:xfrm>
            <a:off x="-2" y="10844463"/>
            <a:ext cx="9134473" cy="1353708"/>
          </a:xfrm>
          <a:prstGeom prst="rect">
            <a:avLst/>
          </a:prstGeom>
          <a:solidFill>
            <a:srgbClr val="129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581C0D9-3EDC-4A51-B585-F7B7778E1F2B}"/>
              </a:ext>
            </a:extLst>
          </p:cNvPr>
          <p:cNvSpPr/>
          <p:nvPr/>
        </p:nvSpPr>
        <p:spPr>
          <a:xfrm>
            <a:off x="0" y="0"/>
            <a:ext cx="9134475" cy="1620253"/>
          </a:xfrm>
          <a:prstGeom prst="rect">
            <a:avLst/>
          </a:prstGeom>
          <a:solidFill>
            <a:srgbClr val="DAE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F4CB049-AFD4-4093-84A5-93C15377D13F}"/>
              </a:ext>
            </a:extLst>
          </p:cNvPr>
          <p:cNvSpPr txBox="1"/>
          <p:nvPr/>
        </p:nvSpPr>
        <p:spPr>
          <a:xfrm>
            <a:off x="24714" y="257627"/>
            <a:ext cx="5214551"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About  History Horse Retirement Donate</a:t>
            </a:r>
          </a:p>
        </p:txBody>
      </p:sp>
      <p:sp>
        <p:nvSpPr>
          <p:cNvPr id="9" name="TextBox 8">
            <a:extLst>
              <a:ext uri="{FF2B5EF4-FFF2-40B4-BE49-F238E27FC236}">
                <a16:creationId xmlns:a16="http://schemas.microsoft.com/office/drawing/2014/main" id="{B057F934-692E-4641-BF76-E052C7342D1B}"/>
              </a:ext>
            </a:extLst>
          </p:cNvPr>
          <p:cNvSpPr txBox="1"/>
          <p:nvPr/>
        </p:nvSpPr>
        <p:spPr>
          <a:xfrm>
            <a:off x="5445756" y="226849"/>
            <a:ext cx="9539416" cy="769441"/>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Happenings Visit Weddings  Event Rentals</a:t>
            </a:r>
          </a:p>
          <a:p>
            <a:endParaRPr lang="en-US" sz="2800" dirty="0"/>
          </a:p>
        </p:txBody>
      </p:sp>
      <p:sp>
        <p:nvSpPr>
          <p:cNvPr id="13" name="Rectangle 12">
            <a:extLst>
              <a:ext uri="{FF2B5EF4-FFF2-40B4-BE49-F238E27FC236}">
                <a16:creationId xmlns:a16="http://schemas.microsoft.com/office/drawing/2014/main" id="{277E3ACB-77BD-410E-8E28-C64FA0C38954}"/>
              </a:ext>
            </a:extLst>
          </p:cNvPr>
          <p:cNvSpPr/>
          <p:nvPr/>
        </p:nvSpPr>
        <p:spPr>
          <a:xfrm>
            <a:off x="-1" y="5590675"/>
            <a:ext cx="9134475" cy="623153"/>
          </a:xfrm>
          <a:prstGeom prst="rect">
            <a:avLst/>
          </a:prstGeom>
          <a:solidFill>
            <a:srgbClr val="DAE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rush Script MT" panose="03060802040406070304" pitchFamily="66" charset="0"/>
                <a:cs typeface="Times New Roman" panose="02020603050405020304" pitchFamily="18" charset="0"/>
              </a:rPr>
              <a:t>Weddings at Historic Long Branch</a:t>
            </a:r>
          </a:p>
        </p:txBody>
      </p:sp>
      <p:sp>
        <p:nvSpPr>
          <p:cNvPr id="14" name="Rectangle 13">
            <a:extLst>
              <a:ext uri="{FF2B5EF4-FFF2-40B4-BE49-F238E27FC236}">
                <a16:creationId xmlns:a16="http://schemas.microsoft.com/office/drawing/2014/main" id="{EBA5CE64-6140-4773-8F11-26BBCDF4C012}"/>
              </a:ext>
            </a:extLst>
          </p:cNvPr>
          <p:cNvSpPr/>
          <p:nvPr/>
        </p:nvSpPr>
        <p:spPr>
          <a:xfrm>
            <a:off x="-1" y="6194163"/>
            <a:ext cx="9134474" cy="2092221"/>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D6AB79F-052D-4ACD-92BA-26C0BEA43A88}"/>
              </a:ext>
            </a:extLst>
          </p:cNvPr>
          <p:cNvSpPr txBox="1"/>
          <p:nvPr/>
        </p:nvSpPr>
        <p:spPr>
          <a:xfrm>
            <a:off x="151969" y="6426158"/>
            <a:ext cx="8830528" cy="1815882"/>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Long Branch Historic House and Farm is located on 400 acres in Boyce, Virginia, about an hour and half away from Washington, D.C. Our purpose is to preserve and utilize the assets of the Long Branch estate for the benefit of our local and regional communities. The historic house, active Virginia horse retirement farm and scenic open space allow us to promote education, environmental preservation and host community and private events. Our scenic gardens are the perfect location for Virginia weddings, and the house is the ideal Virginia wedding venue during inclement weather.  Whether touring the home, enjoying a picnic on our beautiful grounds, hiking or walking our pristine property at the base of the Blue Ridge Mountains, you will be sure to want to visit again.</a:t>
            </a:r>
          </a:p>
          <a:p>
            <a:endParaRPr lang="en-US" sz="1400" dirty="0">
              <a:solidFill>
                <a:schemeClr val="bg1"/>
              </a:solidFill>
            </a:endParaRPr>
          </a:p>
        </p:txBody>
      </p:sp>
      <p:grpSp>
        <p:nvGrpSpPr>
          <p:cNvPr id="26" name="Group 25">
            <a:extLst>
              <a:ext uri="{FF2B5EF4-FFF2-40B4-BE49-F238E27FC236}">
                <a16:creationId xmlns:a16="http://schemas.microsoft.com/office/drawing/2014/main" id="{4FD47131-DC77-4D9B-ACB8-4D45A8B6D140}"/>
              </a:ext>
            </a:extLst>
          </p:cNvPr>
          <p:cNvGrpSpPr/>
          <p:nvPr/>
        </p:nvGrpSpPr>
        <p:grpSpPr>
          <a:xfrm>
            <a:off x="364205" y="8570162"/>
            <a:ext cx="8406061" cy="2072899"/>
            <a:chOff x="364205" y="8489952"/>
            <a:chExt cx="8406061" cy="2072899"/>
          </a:xfrm>
        </p:grpSpPr>
        <p:pic>
          <p:nvPicPr>
            <p:cNvPr id="17" name="Picture 16" descr="A room filled with furniture and vase of flowers on a table&#10;&#10;Description automatically generated">
              <a:extLst>
                <a:ext uri="{FF2B5EF4-FFF2-40B4-BE49-F238E27FC236}">
                  <a16:creationId xmlns:a16="http://schemas.microsoft.com/office/drawing/2014/main" id="{DCCF418D-A168-4157-937B-F01F7A8EA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205" y="8526756"/>
              <a:ext cx="2491289" cy="1660444"/>
            </a:xfrm>
            <a:prstGeom prst="rect">
              <a:avLst/>
            </a:prstGeom>
          </p:spPr>
        </p:pic>
        <p:pic>
          <p:nvPicPr>
            <p:cNvPr id="19" name="Picture 18" descr="A large green field with trees in the background&#10;&#10;Description automatically generated">
              <a:extLst>
                <a:ext uri="{FF2B5EF4-FFF2-40B4-BE49-F238E27FC236}">
                  <a16:creationId xmlns:a16="http://schemas.microsoft.com/office/drawing/2014/main" id="{41522D10-1D11-4BF3-924E-50E912B9BE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1593" y="8489952"/>
              <a:ext cx="2491289" cy="1658757"/>
            </a:xfrm>
            <a:prstGeom prst="rect">
              <a:avLst/>
            </a:prstGeom>
          </p:spPr>
        </p:pic>
        <p:sp>
          <p:nvSpPr>
            <p:cNvPr id="22" name="Rectangle 21">
              <a:extLst>
                <a:ext uri="{FF2B5EF4-FFF2-40B4-BE49-F238E27FC236}">
                  <a16:creationId xmlns:a16="http://schemas.microsoft.com/office/drawing/2014/main" id="{47F081DD-B260-4BA9-B435-5EB2D6B332C5}"/>
                </a:ext>
              </a:extLst>
            </p:cNvPr>
            <p:cNvSpPr/>
            <p:nvPr/>
          </p:nvSpPr>
          <p:spPr>
            <a:xfrm>
              <a:off x="364205" y="10144668"/>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Inside the Mansion</a:t>
              </a:r>
            </a:p>
          </p:txBody>
        </p:sp>
        <p:sp>
          <p:nvSpPr>
            <p:cNvPr id="23" name="Rectangle 22">
              <a:extLst>
                <a:ext uri="{FF2B5EF4-FFF2-40B4-BE49-F238E27FC236}">
                  <a16:creationId xmlns:a16="http://schemas.microsoft.com/office/drawing/2014/main" id="{1683B135-A324-427C-A17F-DD291705A982}"/>
                </a:ext>
              </a:extLst>
            </p:cNvPr>
            <p:cNvSpPr/>
            <p:nvPr/>
          </p:nvSpPr>
          <p:spPr>
            <a:xfrm>
              <a:off x="3321591" y="10130039"/>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Grounds</a:t>
              </a:r>
            </a:p>
          </p:txBody>
        </p:sp>
        <p:sp>
          <p:nvSpPr>
            <p:cNvPr id="24" name="Rectangle 23">
              <a:extLst>
                <a:ext uri="{FF2B5EF4-FFF2-40B4-BE49-F238E27FC236}">
                  <a16:creationId xmlns:a16="http://schemas.microsoft.com/office/drawing/2014/main" id="{252DC8E2-A4C0-4CE6-87BD-D3E0E24F7583}"/>
                </a:ext>
              </a:extLst>
            </p:cNvPr>
            <p:cNvSpPr/>
            <p:nvPr/>
          </p:nvSpPr>
          <p:spPr>
            <a:xfrm>
              <a:off x="6278977" y="10148709"/>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Event Spaces</a:t>
              </a:r>
            </a:p>
          </p:txBody>
        </p:sp>
      </p:grpSp>
      <p:sp>
        <p:nvSpPr>
          <p:cNvPr id="27" name="TextBox 26">
            <a:extLst>
              <a:ext uri="{FF2B5EF4-FFF2-40B4-BE49-F238E27FC236}">
                <a16:creationId xmlns:a16="http://schemas.microsoft.com/office/drawing/2014/main" id="{6101AC4B-3454-4674-AA1F-BEB12BCCCAED}"/>
              </a:ext>
            </a:extLst>
          </p:cNvPr>
          <p:cNvSpPr txBox="1"/>
          <p:nvPr/>
        </p:nvSpPr>
        <p:spPr>
          <a:xfrm>
            <a:off x="151972" y="10978971"/>
            <a:ext cx="1775294" cy="1200329"/>
          </a:xfrm>
          <a:prstGeom prst="rect">
            <a:avLst/>
          </a:prstGeom>
          <a:noFill/>
        </p:spPr>
        <p:txBody>
          <a:bodyPr wrap="none" rtlCol="0">
            <a:spAutoFit/>
          </a:bodyPr>
          <a:lstStyle/>
          <a:p>
            <a:r>
              <a:rPr lang="en-US" sz="1200" dirty="0">
                <a:solidFill>
                  <a:schemeClr val="bg1"/>
                </a:solidFill>
                <a:latin typeface="Times New Roman" panose="02020603050405020304" pitchFamily="18" charset="0"/>
                <a:cs typeface="Times New Roman" panose="02020603050405020304" pitchFamily="18" charset="0"/>
              </a:rPr>
              <a:t>830 Long Branch Lane</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P.O. Box 241</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Millwood, VA 22646</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540-837-1856</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info@visitlongbranch.org</a:t>
            </a:r>
          </a:p>
          <a:p>
            <a:endParaRPr lang="en-US" sz="1200" dirty="0">
              <a:solidFill>
                <a:schemeClr val="bg1"/>
              </a:solidFill>
              <a:latin typeface="Times New Roman" panose="02020603050405020304" pitchFamily="18" charset="0"/>
              <a:cs typeface="Times New Roman" panose="02020603050405020304" pitchFamily="18" charset="0"/>
            </a:endParaRPr>
          </a:p>
        </p:txBody>
      </p:sp>
      <p:pic>
        <p:nvPicPr>
          <p:cNvPr id="1028" name="Picture 4" descr="wedding-wire-rated-badge - Classic Bakery">
            <a:extLst>
              <a:ext uri="{FF2B5EF4-FFF2-40B4-BE49-F238E27FC236}">
                <a16:creationId xmlns:a16="http://schemas.microsoft.com/office/drawing/2014/main" id="{602899E8-1A94-4159-8AC4-4212726651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1974" y="11034159"/>
            <a:ext cx="918292" cy="91829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acebook Icon transparent PNG - StickPNG">
            <a:extLst>
              <a:ext uri="{FF2B5EF4-FFF2-40B4-BE49-F238E27FC236}">
                <a16:creationId xmlns:a16="http://schemas.microsoft.com/office/drawing/2014/main" id="{30D34663-AD0C-4782-BE34-578DD7EB28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9465" y="11322069"/>
            <a:ext cx="385209" cy="34247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nstagram Logo transparent PNG - StickPNG">
            <a:extLst>
              <a:ext uri="{FF2B5EF4-FFF2-40B4-BE49-F238E27FC236}">
                <a16:creationId xmlns:a16="http://schemas.microsoft.com/office/drawing/2014/main" id="{76F93528-1D43-4DAE-B1DE-28BE852773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58944" y="11322070"/>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witter Logo transparent PNG - StickPNG">
            <a:extLst>
              <a:ext uri="{FF2B5EF4-FFF2-40B4-BE49-F238E27FC236}">
                <a16:creationId xmlns:a16="http://schemas.microsoft.com/office/drawing/2014/main" id="{2ED3F2F3-730C-4FC4-9AD1-1AEFBDFFDF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1288" y="11322069"/>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Free Youtube Logo Png Transparent, Download Free Clip Art, Free Clip Art on  Clipart Library">
            <a:extLst>
              <a:ext uri="{FF2B5EF4-FFF2-40B4-BE49-F238E27FC236}">
                <a16:creationId xmlns:a16="http://schemas.microsoft.com/office/drawing/2014/main" id="{7BC778EE-9082-4840-945C-0D401FBF3D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68029" y="11322069"/>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8CA34E84-796F-47B9-BBC4-9240C3B60FF1}"/>
              </a:ext>
            </a:extLst>
          </p:cNvPr>
          <p:cNvPicPr>
            <a:picLocks noChangeAspect="1"/>
          </p:cNvPicPr>
          <p:nvPr/>
        </p:nvPicPr>
        <p:blipFill>
          <a:blip r:embed="rId9"/>
          <a:stretch>
            <a:fillRect/>
          </a:stretch>
        </p:blipFill>
        <p:spPr>
          <a:xfrm>
            <a:off x="-4" y="1197692"/>
            <a:ext cx="9134475" cy="4419418"/>
          </a:xfrm>
          <a:prstGeom prst="rect">
            <a:avLst/>
          </a:prstGeom>
        </p:spPr>
      </p:pic>
      <p:pic>
        <p:nvPicPr>
          <p:cNvPr id="2052" name="Picture 4">
            <a:extLst>
              <a:ext uri="{FF2B5EF4-FFF2-40B4-BE49-F238E27FC236}">
                <a16:creationId xmlns:a16="http://schemas.microsoft.com/office/drawing/2014/main" id="{ACB693A8-E7BF-442F-92CC-81FC61F6D6D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78977" y="8573683"/>
            <a:ext cx="2491289" cy="1658487"/>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1.jpeg">
            <a:extLst>
              <a:ext uri="{FF2B5EF4-FFF2-40B4-BE49-F238E27FC236}">
                <a16:creationId xmlns:a16="http://schemas.microsoft.com/office/drawing/2014/main" id="{18A71C8E-52BA-49DE-A634-0C80563952F0}"/>
              </a:ext>
            </a:extLst>
          </p:cNvPr>
          <p:cNvPicPr/>
          <p:nvPr/>
        </p:nvPicPr>
        <p:blipFill>
          <a:blip r:embed="rId11" cstate="print"/>
          <a:stretch>
            <a:fillRect/>
          </a:stretch>
        </p:blipFill>
        <p:spPr>
          <a:xfrm>
            <a:off x="3571060" y="87443"/>
            <a:ext cx="1839440" cy="989409"/>
          </a:xfrm>
          <a:prstGeom prst="rect">
            <a:avLst/>
          </a:prstGeom>
        </p:spPr>
      </p:pic>
    </p:spTree>
    <p:extLst>
      <p:ext uri="{BB962C8B-B14F-4D97-AF65-F5344CB8AC3E}">
        <p14:creationId xmlns:p14="http://schemas.microsoft.com/office/powerpoint/2010/main" val="1683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9EC03AC-C076-40D5-93AB-517D82F6C101}"/>
              </a:ext>
            </a:extLst>
          </p:cNvPr>
          <p:cNvSpPr/>
          <p:nvPr/>
        </p:nvSpPr>
        <p:spPr>
          <a:xfrm>
            <a:off x="-2" y="10844463"/>
            <a:ext cx="9134473" cy="1353708"/>
          </a:xfrm>
          <a:prstGeom prst="rect">
            <a:avLst/>
          </a:prstGeom>
          <a:solidFill>
            <a:srgbClr val="129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581C0D9-3EDC-4A51-B585-F7B7778E1F2B}"/>
              </a:ext>
            </a:extLst>
          </p:cNvPr>
          <p:cNvSpPr/>
          <p:nvPr/>
        </p:nvSpPr>
        <p:spPr>
          <a:xfrm>
            <a:off x="0" y="0"/>
            <a:ext cx="9134475" cy="1620253"/>
          </a:xfrm>
          <a:prstGeom prst="rect">
            <a:avLst/>
          </a:prstGeom>
          <a:solidFill>
            <a:srgbClr val="DAE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B057F934-692E-4641-BF76-E052C7342D1B}"/>
              </a:ext>
            </a:extLst>
          </p:cNvPr>
          <p:cNvSpPr txBox="1"/>
          <p:nvPr/>
        </p:nvSpPr>
        <p:spPr>
          <a:xfrm>
            <a:off x="5445756" y="226849"/>
            <a:ext cx="9539416" cy="769441"/>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Happenings Visit Weddings  Event Rentals</a:t>
            </a:r>
          </a:p>
          <a:p>
            <a:endParaRPr lang="en-US" sz="2800" dirty="0"/>
          </a:p>
        </p:txBody>
      </p:sp>
      <p:sp>
        <p:nvSpPr>
          <p:cNvPr id="13" name="Rectangle 12">
            <a:extLst>
              <a:ext uri="{FF2B5EF4-FFF2-40B4-BE49-F238E27FC236}">
                <a16:creationId xmlns:a16="http://schemas.microsoft.com/office/drawing/2014/main" id="{277E3ACB-77BD-410E-8E28-C64FA0C38954}"/>
              </a:ext>
            </a:extLst>
          </p:cNvPr>
          <p:cNvSpPr/>
          <p:nvPr/>
        </p:nvSpPr>
        <p:spPr>
          <a:xfrm>
            <a:off x="-1" y="5292954"/>
            <a:ext cx="9134475" cy="623153"/>
          </a:xfrm>
          <a:prstGeom prst="rect">
            <a:avLst/>
          </a:prstGeom>
          <a:solidFill>
            <a:srgbClr val="DAE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rush Script MT" panose="03060802040406070304" pitchFamily="66" charset="0"/>
                <a:cs typeface="Times New Roman" panose="02020603050405020304" pitchFamily="18" charset="0"/>
              </a:rPr>
              <a:t>Horse Retirement at Historic Long Branch</a:t>
            </a:r>
          </a:p>
        </p:txBody>
      </p:sp>
      <p:sp>
        <p:nvSpPr>
          <p:cNvPr id="14" name="Rectangle 13">
            <a:extLst>
              <a:ext uri="{FF2B5EF4-FFF2-40B4-BE49-F238E27FC236}">
                <a16:creationId xmlns:a16="http://schemas.microsoft.com/office/drawing/2014/main" id="{EBA5CE64-6140-4773-8F11-26BBCDF4C012}"/>
              </a:ext>
            </a:extLst>
          </p:cNvPr>
          <p:cNvSpPr/>
          <p:nvPr/>
        </p:nvSpPr>
        <p:spPr>
          <a:xfrm>
            <a:off x="-1" y="5916107"/>
            <a:ext cx="9134474" cy="2485415"/>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D6AB79F-052D-4ACD-92BA-26C0BEA43A88}"/>
              </a:ext>
            </a:extLst>
          </p:cNvPr>
          <p:cNvSpPr txBox="1"/>
          <p:nvPr/>
        </p:nvSpPr>
        <p:spPr>
          <a:xfrm>
            <a:off x="151972" y="6247548"/>
            <a:ext cx="8830528" cy="1754326"/>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Long Branch Historic House and Farm is a Virginia horse retirement facility that truly provides the ideal setting for horses lucky enough to be “put out to pasture” on our beautiful horse farm in the Shenandoah Valley. Located 20 miles west of Middleburg, VA, Long Branch’s horse retirement farm is the perfect location for your horse.</a:t>
            </a:r>
          </a:p>
          <a:p>
            <a:pPr>
              <a:spcBef>
                <a:spcPts val="1200"/>
              </a:spcBef>
            </a:pPr>
            <a:r>
              <a:rPr lang="en-US" sz="1400" dirty="0">
                <a:solidFill>
                  <a:schemeClr val="bg1"/>
                </a:solidFill>
                <a:latin typeface="Times New Roman" panose="02020603050405020304" pitchFamily="18" charset="0"/>
                <a:cs typeface="Times New Roman" panose="02020603050405020304" pitchFamily="18" charset="0"/>
              </a:rPr>
              <a:t>We specialize in the care of retired horses and your horse is the primary focus of our Virginia horse retirement farm. Our staff understands that older horses require a different kind of care than those in work. To that end, we employ a staff of experienced horsemen, some of whom live on the grounds, making it a safe environment for your horse should an incident occur at any time of day or night.</a:t>
            </a:r>
          </a:p>
        </p:txBody>
      </p:sp>
      <p:grpSp>
        <p:nvGrpSpPr>
          <p:cNvPr id="26" name="Group 25">
            <a:extLst>
              <a:ext uri="{FF2B5EF4-FFF2-40B4-BE49-F238E27FC236}">
                <a16:creationId xmlns:a16="http://schemas.microsoft.com/office/drawing/2014/main" id="{4FD47131-DC77-4D9B-ACB8-4D45A8B6D140}"/>
              </a:ext>
            </a:extLst>
          </p:cNvPr>
          <p:cNvGrpSpPr/>
          <p:nvPr/>
        </p:nvGrpSpPr>
        <p:grpSpPr>
          <a:xfrm>
            <a:off x="364205" y="10210249"/>
            <a:ext cx="8406061" cy="432812"/>
            <a:chOff x="364205" y="10130039"/>
            <a:chExt cx="8406061" cy="432812"/>
          </a:xfrm>
        </p:grpSpPr>
        <p:sp>
          <p:nvSpPr>
            <p:cNvPr id="22" name="Rectangle 21">
              <a:extLst>
                <a:ext uri="{FF2B5EF4-FFF2-40B4-BE49-F238E27FC236}">
                  <a16:creationId xmlns:a16="http://schemas.microsoft.com/office/drawing/2014/main" id="{47F081DD-B260-4BA9-B435-5EB2D6B332C5}"/>
                </a:ext>
              </a:extLst>
            </p:cNvPr>
            <p:cNvSpPr/>
            <p:nvPr/>
          </p:nvSpPr>
          <p:spPr>
            <a:xfrm>
              <a:off x="364205" y="10144668"/>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Boarding Application</a:t>
              </a:r>
            </a:p>
          </p:txBody>
        </p:sp>
        <p:sp>
          <p:nvSpPr>
            <p:cNvPr id="23" name="Rectangle 22">
              <a:extLst>
                <a:ext uri="{FF2B5EF4-FFF2-40B4-BE49-F238E27FC236}">
                  <a16:creationId xmlns:a16="http://schemas.microsoft.com/office/drawing/2014/main" id="{1683B135-A324-427C-A17F-DD291705A982}"/>
                </a:ext>
              </a:extLst>
            </p:cNvPr>
            <p:cNvSpPr/>
            <p:nvPr/>
          </p:nvSpPr>
          <p:spPr>
            <a:xfrm>
              <a:off x="3321591" y="10130039"/>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Pay Your Monthly Bill</a:t>
              </a:r>
            </a:p>
          </p:txBody>
        </p:sp>
        <p:sp>
          <p:nvSpPr>
            <p:cNvPr id="24" name="Rectangle 23">
              <a:extLst>
                <a:ext uri="{FF2B5EF4-FFF2-40B4-BE49-F238E27FC236}">
                  <a16:creationId xmlns:a16="http://schemas.microsoft.com/office/drawing/2014/main" id="{252DC8E2-A4C0-4CE6-87BD-D3E0E24F7583}"/>
                </a:ext>
              </a:extLst>
            </p:cNvPr>
            <p:cNvSpPr/>
            <p:nvPr/>
          </p:nvSpPr>
          <p:spPr>
            <a:xfrm>
              <a:off x="6278977" y="10148709"/>
              <a:ext cx="2491289" cy="414142"/>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Request A Tour</a:t>
              </a:r>
            </a:p>
          </p:txBody>
        </p:sp>
      </p:grpSp>
      <p:sp>
        <p:nvSpPr>
          <p:cNvPr id="27" name="TextBox 26">
            <a:extLst>
              <a:ext uri="{FF2B5EF4-FFF2-40B4-BE49-F238E27FC236}">
                <a16:creationId xmlns:a16="http://schemas.microsoft.com/office/drawing/2014/main" id="{6101AC4B-3454-4674-AA1F-BEB12BCCCAED}"/>
              </a:ext>
            </a:extLst>
          </p:cNvPr>
          <p:cNvSpPr txBox="1"/>
          <p:nvPr/>
        </p:nvSpPr>
        <p:spPr>
          <a:xfrm>
            <a:off x="151972" y="10978971"/>
            <a:ext cx="1775294" cy="1200329"/>
          </a:xfrm>
          <a:prstGeom prst="rect">
            <a:avLst/>
          </a:prstGeom>
          <a:noFill/>
        </p:spPr>
        <p:txBody>
          <a:bodyPr wrap="none" rtlCol="0">
            <a:spAutoFit/>
          </a:bodyPr>
          <a:lstStyle/>
          <a:p>
            <a:r>
              <a:rPr lang="en-US" sz="1200" dirty="0">
                <a:solidFill>
                  <a:schemeClr val="bg1"/>
                </a:solidFill>
                <a:latin typeface="Times New Roman" panose="02020603050405020304" pitchFamily="18" charset="0"/>
                <a:cs typeface="Times New Roman" panose="02020603050405020304" pitchFamily="18" charset="0"/>
              </a:rPr>
              <a:t>830 Long Branch Lane</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P.O. Box 241</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Millwood, VA 22646</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540-837-1856</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info@visitlongbranch.org</a:t>
            </a:r>
          </a:p>
          <a:p>
            <a:endParaRPr lang="en-US" sz="1200" dirty="0">
              <a:solidFill>
                <a:schemeClr val="bg1"/>
              </a:solidFill>
              <a:latin typeface="Times New Roman" panose="02020603050405020304" pitchFamily="18" charset="0"/>
              <a:cs typeface="Times New Roman" panose="02020603050405020304" pitchFamily="18" charset="0"/>
            </a:endParaRPr>
          </a:p>
        </p:txBody>
      </p:sp>
      <p:pic>
        <p:nvPicPr>
          <p:cNvPr id="1028" name="Picture 4" descr="wedding-wire-rated-badge - Classic Bakery">
            <a:extLst>
              <a:ext uri="{FF2B5EF4-FFF2-40B4-BE49-F238E27FC236}">
                <a16:creationId xmlns:a16="http://schemas.microsoft.com/office/drawing/2014/main" id="{602899E8-1A94-4159-8AC4-421272665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1974" y="11034159"/>
            <a:ext cx="918292" cy="91829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acebook Icon transparent PNG - StickPNG">
            <a:extLst>
              <a:ext uri="{FF2B5EF4-FFF2-40B4-BE49-F238E27FC236}">
                <a16:creationId xmlns:a16="http://schemas.microsoft.com/office/drawing/2014/main" id="{30D34663-AD0C-4782-BE34-578DD7EB2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9465" y="11322069"/>
            <a:ext cx="385209" cy="34247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nstagram Logo transparent PNG - StickPNG">
            <a:extLst>
              <a:ext uri="{FF2B5EF4-FFF2-40B4-BE49-F238E27FC236}">
                <a16:creationId xmlns:a16="http://schemas.microsoft.com/office/drawing/2014/main" id="{76F93528-1D43-4DAE-B1DE-28BE852773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8944" y="11322070"/>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witter Logo transparent PNG - StickPNG">
            <a:extLst>
              <a:ext uri="{FF2B5EF4-FFF2-40B4-BE49-F238E27FC236}">
                <a16:creationId xmlns:a16="http://schemas.microsoft.com/office/drawing/2014/main" id="{2ED3F2F3-730C-4FC4-9AD1-1AEFBDFFDF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1288" y="11322069"/>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Free Youtube Logo Png Transparent, Download Free Clip Art, Free Clip Art on  Clipart Library">
            <a:extLst>
              <a:ext uri="{FF2B5EF4-FFF2-40B4-BE49-F238E27FC236}">
                <a16:creationId xmlns:a16="http://schemas.microsoft.com/office/drawing/2014/main" id="{7BC778EE-9082-4840-945C-0D401FBF3D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8029" y="11322069"/>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6801FCB4-791F-4439-8A63-5172543141D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93" y="1178646"/>
            <a:ext cx="9134472" cy="41186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3110AF2-9333-4568-85FC-30B5617B0CD6}"/>
              </a:ext>
            </a:extLst>
          </p:cNvPr>
          <p:cNvSpPr/>
          <p:nvPr/>
        </p:nvSpPr>
        <p:spPr>
          <a:xfrm>
            <a:off x="364205" y="8676167"/>
            <a:ext cx="2491289" cy="15487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PHOTO</a:t>
            </a:r>
          </a:p>
        </p:txBody>
      </p:sp>
      <p:sp>
        <p:nvSpPr>
          <p:cNvPr id="28" name="Rectangle 27">
            <a:extLst>
              <a:ext uri="{FF2B5EF4-FFF2-40B4-BE49-F238E27FC236}">
                <a16:creationId xmlns:a16="http://schemas.microsoft.com/office/drawing/2014/main" id="{4FE0E8F4-EC4D-444C-8117-279A0DAB5D7F}"/>
              </a:ext>
            </a:extLst>
          </p:cNvPr>
          <p:cNvSpPr/>
          <p:nvPr/>
        </p:nvSpPr>
        <p:spPr>
          <a:xfrm>
            <a:off x="3321591" y="8656769"/>
            <a:ext cx="2491289" cy="15487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PHOTO</a:t>
            </a:r>
          </a:p>
        </p:txBody>
      </p:sp>
      <p:sp>
        <p:nvSpPr>
          <p:cNvPr id="30" name="Rectangle 29">
            <a:extLst>
              <a:ext uri="{FF2B5EF4-FFF2-40B4-BE49-F238E27FC236}">
                <a16:creationId xmlns:a16="http://schemas.microsoft.com/office/drawing/2014/main" id="{9A7B5AD8-D7A9-4556-8505-9F861536A9CE}"/>
              </a:ext>
            </a:extLst>
          </p:cNvPr>
          <p:cNvSpPr/>
          <p:nvPr/>
        </p:nvSpPr>
        <p:spPr>
          <a:xfrm>
            <a:off x="6278976" y="8701188"/>
            <a:ext cx="2491289" cy="15487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PHOTO</a:t>
            </a:r>
          </a:p>
        </p:txBody>
      </p:sp>
      <p:pic>
        <p:nvPicPr>
          <p:cNvPr id="25" name="image1.jpeg">
            <a:extLst>
              <a:ext uri="{FF2B5EF4-FFF2-40B4-BE49-F238E27FC236}">
                <a16:creationId xmlns:a16="http://schemas.microsoft.com/office/drawing/2014/main" id="{0F699A20-BC0A-43DF-9178-D82431BC85C0}"/>
              </a:ext>
            </a:extLst>
          </p:cNvPr>
          <p:cNvPicPr/>
          <p:nvPr/>
        </p:nvPicPr>
        <p:blipFill>
          <a:blip r:embed="rId8" cstate="print"/>
          <a:stretch>
            <a:fillRect/>
          </a:stretch>
        </p:blipFill>
        <p:spPr>
          <a:xfrm>
            <a:off x="3578560" y="94619"/>
            <a:ext cx="1839440" cy="989409"/>
          </a:xfrm>
          <a:prstGeom prst="rect">
            <a:avLst/>
          </a:prstGeom>
        </p:spPr>
      </p:pic>
      <p:sp>
        <p:nvSpPr>
          <p:cNvPr id="31" name="TextBox 30">
            <a:extLst>
              <a:ext uri="{FF2B5EF4-FFF2-40B4-BE49-F238E27FC236}">
                <a16:creationId xmlns:a16="http://schemas.microsoft.com/office/drawing/2014/main" id="{FA1D3469-2DF6-4875-97B1-35C25868C4C8}"/>
              </a:ext>
            </a:extLst>
          </p:cNvPr>
          <p:cNvSpPr txBox="1"/>
          <p:nvPr/>
        </p:nvSpPr>
        <p:spPr>
          <a:xfrm>
            <a:off x="24714" y="257627"/>
            <a:ext cx="5214551"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About  History Horse Retirement Donate</a:t>
            </a:r>
          </a:p>
        </p:txBody>
      </p:sp>
    </p:spTree>
    <p:extLst>
      <p:ext uri="{BB962C8B-B14F-4D97-AF65-F5344CB8AC3E}">
        <p14:creationId xmlns:p14="http://schemas.microsoft.com/office/powerpoint/2010/main" val="302022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270731FF-E860-476C-BEEB-F8BD5669E5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 y="-787730"/>
            <a:ext cx="9134473" cy="7216234"/>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id="{79EC03AC-C076-40D5-93AB-517D82F6C101}"/>
              </a:ext>
            </a:extLst>
          </p:cNvPr>
          <p:cNvSpPr/>
          <p:nvPr/>
        </p:nvSpPr>
        <p:spPr>
          <a:xfrm>
            <a:off x="-2" y="10844463"/>
            <a:ext cx="9134473" cy="1353708"/>
          </a:xfrm>
          <a:prstGeom prst="rect">
            <a:avLst/>
          </a:prstGeom>
          <a:solidFill>
            <a:srgbClr val="129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581C0D9-3EDC-4A51-B585-F7B7778E1F2B}"/>
              </a:ext>
            </a:extLst>
          </p:cNvPr>
          <p:cNvSpPr/>
          <p:nvPr/>
        </p:nvSpPr>
        <p:spPr>
          <a:xfrm>
            <a:off x="0" y="1"/>
            <a:ext cx="9134475" cy="1190846"/>
          </a:xfrm>
          <a:prstGeom prst="rect">
            <a:avLst/>
          </a:prstGeom>
          <a:solidFill>
            <a:srgbClr val="DAE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F4CB049-AFD4-4093-84A5-93C15377D13F}"/>
              </a:ext>
            </a:extLst>
          </p:cNvPr>
          <p:cNvSpPr txBox="1"/>
          <p:nvPr/>
        </p:nvSpPr>
        <p:spPr>
          <a:xfrm>
            <a:off x="24714" y="257627"/>
            <a:ext cx="5214551"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About  History Horse Retirement Donate</a:t>
            </a:r>
          </a:p>
        </p:txBody>
      </p:sp>
      <p:sp>
        <p:nvSpPr>
          <p:cNvPr id="9" name="TextBox 8">
            <a:extLst>
              <a:ext uri="{FF2B5EF4-FFF2-40B4-BE49-F238E27FC236}">
                <a16:creationId xmlns:a16="http://schemas.microsoft.com/office/drawing/2014/main" id="{B057F934-692E-4641-BF76-E052C7342D1B}"/>
              </a:ext>
            </a:extLst>
          </p:cNvPr>
          <p:cNvSpPr txBox="1"/>
          <p:nvPr/>
        </p:nvSpPr>
        <p:spPr>
          <a:xfrm>
            <a:off x="5445756" y="226849"/>
            <a:ext cx="9539416" cy="769441"/>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Happenings Visit Weddings  Event Rentals</a:t>
            </a:r>
          </a:p>
          <a:p>
            <a:endParaRPr lang="en-US" sz="2800" dirty="0"/>
          </a:p>
        </p:txBody>
      </p:sp>
      <p:sp>
        <p:nvSpPr>
          <p:cNvPr id="13" name="Rectangle 12">
            <a:extLst>
              <a:ext uri="{FF2B5EF4-FFF2-40B4-BE49-F238E27FC236}">
                <a16:creationId xmlns:a16="http://schemas.microsoft.com/office/drawing/2014/main" id="{277E3ACB-77BD-410E-8E28-C64FA0C38954}"/>
              </a:ext>
            </a:extLst>
          </p:cNvPr>
          <p:cNvSpPr/>
          <p:nvPr/>
        </p:nvSpPr>
        <p:spPr>
          <a:xfrm>
            <a:off x="-1" y="5292954"/>
            <a:ext cx="9134475" cy="623153"/>
          </a:xfrm>
          <a:prstGeom prst="rect">
            <a:avLst/>
          </a:prstGeom>
          <a:solidFill>
            <a:srgbClr val="DAE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rush Script MT" panose="03060802040406070304" pitchFamily="66" charset="0"/>
                <a:cs typeface="Times New Roman" panose="02020603050405020304" pitchFamily="18" charset="0"/>
              </a:rPr>
              <a:t>History at Historic Long Branch</a:t>
            </a:r>
          </a:p>
        </p:txBody>
      </p:sp>
      <p:sp>
        <p:nvSpPr>
          <p:cNvPr id="14" name="Rectangle 13">
            <a:extLst>
              <a:ext uri="{FF2B5EF4-FFF2-40B4-BE49-F238E27FC236}">
                <a16:creationId xmlns:a16="http://schemas.microsoft.com/office/drawing/2014/main" id="{EBA5CE64-6140-4773-8F11-26BBCDF4C012}"/>
              </a:ext>
            </a:extLst>
          </p:cNvPr>
          <p:cNvSpPr/>
          <p:nvPr/>
        </p:nvSpPr>
        <p:spPr>
          <a:xfrm>
            <a:off x="-1" y="5848463"/>
            <a:ext cx="9134474" cy="4996000"/>
          </a:xfrm>
          <a:prstGeom prst="rect">
            <a:avLst/>
          </a:prstGeom>
          <a:solidFill>
            <a:srgbClr val="2749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D6AB79F-052D-4ACD-92BA-26C0BEA43A88}"/>
              </a:ext>
            </a:extLst>
          </p:cNvPr>
          <p:cNvSpPr txBox="1"/>
          <p:nvPr/>
        </p:nvSpPr>
        <p:spPr>
          <a:xfrm>
            <a:off x="119888" y="6310547"/>
            <a:ext cx="8830528" cy="4103688"/>
          </a:xfrm>
          <a:prstGeom prst="rect">
            <a:avLst/>
          </a:prstGeom>
          <a:noFill/>
        </p:spPr>
        <p:txBody>
          <a:bodyPr wrap="square" rtlCol="0">
            <a:spAutoFit/>
          </a:bodyPr>
          <a:lstStyle/>
          <a:p>
            <a:pPr>
              <a:spcBef>
                <a:spcPts val="800"/>
              </a:spcBef>
            </a:pPr>
            <a:r>
              <a:rPr lang="en-US" sz="1300" dirty="0">
                <a:solidFill>
                  <a:schemeClr val="bg1"/>
                </a:solidFill>
                <a:latin typeface="Times New Roman" panose="02020603050405020304" pitchFamily="18" charset="0"/>
                <a:cs typeface="Times New Roman" panose="02020603050405020304" pitchFamily="18" charset="0"/>
              </a:rPr>
              <a:t>Long Branch survived the Civil War, the Reconstruction era, the Great Depression, and two world wars. Named a Virginia Historic Landmark in 1968 and listed in the National Register of Historic Places in 1969, Long Branch is significant for its relation to national, regional, and local historical narratives.</a:t>
            </a:r>
          </a:p>
          <a:p>
            <a:pPr>
              <a:spcBef>
                <a:spcPts val="800"/>
              </a:spcBef>
            </a:pPr>
            <a:r>
              <a:rPr lang="en-US" sz="1300" dirty="0">
                <a:solidFill>
                  <a:schemeClr val="bg1"/>
                </a:solidFill>
                <a:latin typeface="Times New Roman" panose="02020603050405020304" pitchFamily="18" charset="0"/>
                <a:cs typeface="Times New Roman" panose="02020603050405020304" pitchFamily="18" charset="0"/>
              </a:rPr>
              <a:t>In 1788, Robert Carter Burwell, a descendant of Robert “King” Carter, inherited the land sitting along a stream known as Long Branch in Clarke County, Virginia. Utilizing the labor of enslaved workers, Burwell started a </a:t>
            </a:r>
            <a:r>
              <a:rPr lang="en-US" sz="1300"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wheat plantation</a:t>
            </a:r>
            <a:r>
              <a:rPr lang="en-US" sz="1300" dirty="0">
                <a:solidFill>
                  <a:schemeClr val="bg1"/>
                </a:solidFill>
                <a:latin typeface="Times New Roman" panose="02020603050405020304" pitchFamily="18" charset="0"/>
                <a:cs typeface="Times New Roman" panose="02020603050405020304" pitchFamily="18" charset="0"/>
              </a:rPr>
              <a:t> on the land he inherited. About twenty years later, around 1810, he began to construct a mansion on the site. Burwell, along with the help of a local builder-architect, designed and constructed the house following the classical principles suggested to him by Benjamin Henry Latrobe, architect of the U.S. Capitol, in a letter dated July 21, 1811. Latrobe recommended that Burwell include a servant’s staircase and that the dining room and chamber be oriented to the south side of the house.</a:t>
            </a:r>
          </a:p>
          <a:p>
            <a:pPr>
              <a:spcBef>
                <a:spcPts val="800"/>
              </a:spcBef>
            </a:pPr>
            <a:r>
              <a:rPr lang="en-US" sz="1300" dirty="0">
                <a:solidFill>
                  <a:schemeClr val="bg1"/>
                </a:solidFill>
                <a:latin typeface="Times New Roman" panose="02020603050405020304" pitchFamily="18" charset="0"/>
                <a:cs typeface="Times New Roman" panose="02020603050405020304" pitchFamily="18" charset="0"/>
              </a:rPr>
              <a:t>While it is unclear if Burwell was able to incorporate all of Latrobe’s recommendations into the final design of Long Branch, he did include the servant’s staircase that can still be seen today.   Burwell did not have much time to enjoy his new home, for he fell fatally ill in the filthy camps around Norfolk, Virginia while serving in the military during the War of 1812.</a:t>
            </a:r>
          </a:p>
          <a:p>
            <a:pPr>
              <a:spcBef>
                <a:spcPts val="800"/>
              </a:spcBef>
            </a:pPr>
            <a:r>
              <a:rPr lang="en-US" sz="1300" dirty="0">
                <a:solidFill>
                  <a:schemeClr val="bg1"/>
                </a:solidFill>
                <a:latin typeface="Times New Roman" panose="02020603050405020304" pitchFamily="18" charset="0"/>
                <a:cs typeface="Times New Roman" panose="02020603050405020304" pitchFamily="18" charset="0"/>
              </a:rPr>
              <a:t>Following Burwell’s death, the property passed into the ownership of his sister, Sarah, and her husband Philip Nelson.  While Burwell had died in 1813, it appears that the Nelson’s did not move in until around 1820.  Details on their early tenancy are scarce, but by the 1830s sources indicate they operated the house as a school for girls and maintained the grounds as a wheat plantation.  Philip’s son Thomas then opened a boy’s school at </a:t>
            </a:r>
            <a:r>
              <a:rPr lang="en-US" sz="1300" i="1" dirty="0" err="1">
                <a:solidFill>
                  <a:schemeClr val="bg1"/>
                </a:solidFill>
                <a:latin typeface="Times New Roman" panose="02020603050405020304" pitchFamily="18" charset="0"/>
                <a:cs typeface="Times New Roman" panose="02020603050405020304" pitchFamily="18" charset="0"/>
              </a:rPr>
              <a:t>Rosney</a:t>
            </a:r>
            <a:r>
              <a:rPr lang="en-US" sz="1300" dirty="0">
                <a:solidFill>
                  <a:schemeClr val="bg1"/>
                </a:solidFill>
                <a:latin typeface="Times New Roman" panose="02020603050405020304" pitchFamily="18" charset="0"/>
                <a:cs typeface="Times New Roman" panose="02020603050405020304" pitchFamily="18" charset="0"/>
              </a:rPr>
              <a:t>, the plantation home immediately north of Long Branch.  It is likely that Philip was responsible for the addition of an open-air loggia to the house – the eastern brick addition.</a:t>
            </a:r>
          </a:p>
          <a:p>
            <a:pPr>
              <a:spcBef>
                <a:spcPts val="800"/>
              </a:spcBef>
            </a:pPr>
            <a:endParaRPr lang="en-US" sz="1300"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6101AC4B-3454-4674-AA1F-BEB12BCCCAED}"/>
              </a:ext>
            </a:extLst>
          </p:cNvPr>
          <p:cNvSpPr txBox="1"/>
          <p:nvPr/>
        </p:nvSpPr>
        <p:spPr>
          <a:xfrm>
            <a:off x="151972" y="10978971"/>
            <a:ext cx="1775294" cy="1200329"/>
          </a:xfrm>
          <a:prstGeom prst="rect">
            <a:avLst/>
          </a:prstGeom>
          <a:noFill/>
        </p:spPr>
        <p:txBody>
          <a:bodyPr wrap="none" rtlCol="0">
            <a:spAutoFit/>
          </a:bodyPr>
          <a:lstStyle/>
          <a:p>
            <a:r>
              <a:rPr lang="en-US" sz="1200" dirty="0">
                <a:solidFill>
                  <a:schemeClr val="bg1"/>
                </a:solidFill>
                <a:latin typeface="Times New Roman" panose="02020603050405020304" pitchFamily="18" charset="0"/>
                <a:cs typeface="Times New Roman" panose="02020603050405020304" pitchFamily="18" charset="0"/>
              </a:rPr>
              <a:t>830 Long Branch Lane</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P.O. Box 241</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Millwood, VA 22646</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540-837-1856</a:t>
            </a:r>
            <a:br>
              <a:rPr lang="en-US" sz="1200" dirty="0">
                <a:solidFill>
                  <a:schemeClr val="bg1"/>
                </a:solidFill>
                <a:latin typeface="Times New Roman" panose="02020603050405020304" pitchFamily="18" charset="0"/>
                <a:cs typeface="Times New Roman" panose="02020603050405020304" pitchFamily="18" charset="0"/>
              </a:rPr>
            </a:br>
            <a:r>
              <a:rPr lang="en-US" sz="1200" dirty="0">
                <a:solidFill>
                  <a:schemeClr val="bg1"/>
                </a:solidFill>
                <a:latin typeface="Times New Roman" panose="02020603050405020304" pitchFamily="18" charset="0"/>
                <a:cs typeface="Times New Roman" panose="02020603050405020304" pitchFamily="18" charset="0"/>
              </a:rPr>
              <a:t>info@visitlongbranch.org</a:t>
            </a:r>
          </a:p>
          <a:p>
            <a:endParaRPr lang="en-US" sz="1200" dirty="0">
              <a:solidFill>
                <a:schemeClr val="bg1"/>
              </a:solidFill>
              <a:latin typeface="Times New Roman" panose="02020603050405020304" pitchFamily="18" charset="0"/>
              <a:cs typeface="Times New Roman" panose="02020603050405020304" pitchFamily="18" charset="0"/>
            </a:endParaRPr>
          </a:p>
        </p:txBody>
      </p:sp>
      <p:pic>
        <p:nvPicPr>
          <p:cNvPr id="1028" name="Picture 4" descr="wedding-wire-rated-badge - Classic Bakery">
            <a:extLst>
              <a:ext uri="{FF2B5EF4-FFF2-40B4-BE49-F238E27FC236}">
                <a16:creationId xmlns:a16="http://schemas.microsoft.com/office/drawing/2014/main" id="{602899E8-1A94-4159-8AC4-4212726651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1974" y="11034159"/>
            <a:ext cx="918292" cy="91829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acebook Icon transparent PNG - StickPNG">
            <a:extLst>
              <a:ext uri="{FF2B5EF4-FFF2-40B4-BE49-F238E27FC236}">
                <a16:creationId xmlns:a16="http://schemas.microsoft.com/office/drawing/2014/main" id="{30D34663-AD0C-4782-BE34-578DD7EB28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9465" y="11322069"/>
            <a:ext cx="385209" cy="34247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nstagram Logo transparent PNG - StickPNG">
            <a:extLst>
              <a:ext uri="{FF2B5EF4-FFF2-40B4-BE49-F238E27FC236}">
                <a16:creationId xmlns:a16="http://schemas.microsoft.com/office/drawing/2014/main" id="{76F93528-1D43-4DAE-B1DE-28BE852773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58944" y="11322070"/>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witter Logo transparent PNG - StickPNG">
            <a:extLst>
              <a:ext uri="{FF2B5EF4-FFF2-40B4-BE49-F238E27FC236}">
                <a16:creationId xmlns:a16="http://schemas.microsoft.com/office/drawing/2014/main" id="{2ED3F2F3-730C-4FC4-9AD1-1AEFBDFFDF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1288" y="11322069"/>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Free Youtube Logo Png Transparent, Download Free Clip Art, Free Clip Art on  Clipart Library">
            <a:extLst>
              <a:ext uri="{FF2B5EF4-FFF2-40B4-BE49-F238E27FC236}">
                <a16:creationId xmlns:a16="http://schemas.microsoft.com/office/drawing/2014/main" id="{7BC778EE-9082-4840-945C-0D401FBF3D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68029" y="11322069"/>
            <a:ext cx="342471" cy="342471"/>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1.jpeg">
            <a:extLst>
              <a:ext uri="{FF2B5EF4-FFF2-40B4-BE49-F238E27FC236}">
                <a16:creationId xmlns:a16="http://schemas.microsoft.com/office/drawing/2014/main" id="{53076981-27B5-4664-A71D-090C32AF6154}"/>
              </a:ext>
            </a:extLst>
          </p:cNvPr>
          <p:cNvPicPr/>
          <p:nvPr/>
        </p:nvPicPr>
        <p:blipFill>
          <a:blip r:embed="rId9" cstate="print"/>
          <a:stretch>
            <a:fillRect/>
          </a:stretch>
        </p:blipFill>
        <p:spPr>
          <a:xfrm>
            <a:off x="3571060" y="100719"/>
            <a:ext cx="1839440" cy="989409"/>
          </a:xfrm>
          <a:prstGeom prst="rect">
            <a:avLst/>
          </a:prstGeom>
        </p:spPr>
      </p:pic>
    </p:spTree>
    <p:extLst>
      <p:ext uri="{BB962C8B-B14F-4D97-AF65-F5344CB8AC3E}">
        <p14:creationId xmlns:p14="http://schemas.microsoft.com/office/powerpoint/2010/main" val="27898321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250</TotalTime>
  <Words>989</Words>
  <Application>Microsoft Office PowerPoint</Application>
  <PresentationFormat>Ledger Paper (11x17 in)</PresentationFormat>
  <Paragraphs>36</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Brush Script MT</vt:lpstr>
      <vt:lpstr>Calibri</vt:lpstr>
      <vt:lpstr>Calibri Light</vt:lpstr>
      <vt:lpstr>Times New Roman</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Heather Bowen</dc:creator>
  <cp:lastModifiedBy>Heather Bowen</cp:lastModifiedBy>
  <cp:revision>13</cp:revision>
  <dcterms:created xsi:type="dcterms:W3CDTF">2020-10-13T14:58:20Z</dcterms:created>
  <dcterms:modified xsi:type="dcterms:W3CDTF">2020-10-13T21:17:19Z</dcterms:modified>
</cp:coreProperties>
</file>